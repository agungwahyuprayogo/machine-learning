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2.xml" ContentType="application/vnd.openxmlformats-officedocument.presentationml.notesSlide+xml"/>
  <Override PartName="/ppt/ink/ink3.xml" ContentType="application/inkml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0.xml" ContentType="application/vnd.openxmlformats-officedocument.presentationml.notesSlide+xml"/>
  <Override PartName="/ppt/ink/ink7.xml" ContentType="application/inkml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9" r:id="rId2"/>
    <p:sldId id="260" r:id="rId3"/>
    <p:sldId id="261" r:id="rId4"/>
    <p:sldId id="262" r:id="rId5"/>
    <p:sldId id="314" r:id="rId6"/>
    <p:sldId id="315" r:id="rId7"/>
    <p:sldId id="316" r:id="rId8"/>
    <p:sldId id="263" r:id="rId9"/>
    <p:sldId id="264" r:id="rId10"/>
    <p:sldId id="309" r:id="rId11"/>
    <p:sldId id="310" r:id="rId12"/>
    <p:sldId id="317" r:id="rId13"/>
    <p:sldId id="312" r:id="rId14"/>
    <p:sldId id="311" r:id="rId15"/>
    <p:sldId id="318" r:id="rId16"/>
    <p:sldId id="319" r:id="rId17"/>
    <p:sldId id="320" r:id="rId18"/>
    <p:sldId id="321" r:id="rId19"/>
    <p:sldId id="322" r:id="rId20"/>
    <p:sldId id="313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7:40:17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24575,'523'0'0,"-503"1"0,-2 2 0,2 0 0,-1 1 0,29 9 0,-25-6 0,-1-1 0,44 5 0,356-7 0,-216-8 0,1284 5-1365,-1459-1-5461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7:40:19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24575,'3'3'0,"-2"-1"0,2 1 0,-1 0 0,0-1 0,0 0 0,1 0 0,0 1 0,-1-2 0,1 2 0,0-2 0,1 1 0,-2-1 0,1 0 0,1 1 0,3 0 0,-5 0 0,22 7 0,2-1 0,-2-1 0,1-1 0,0 0 0,1-2 0,27 0 0,162-6 0,-99 0 0,1021 2-1365,-1104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7:40:40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643 432 24575,'30'1'0,"53"10"0,14 1 0,643-9 0,-377-6 0,-335 6 0,0 1 0,1 1 0,-2 0 0,1 3 0,0 0 0,41 22 0,51 12 0,-100-36 0,-1 2 0,1-2 0,-1 2 0,-1 2 0,0 0 0,-1 1 0,0 1 0,-1 0 0,0 0 0,0 3 0,-1-2 0,-2 3 0,2-1 0,-3 1 0,0 1 0,0 0 0,-1 1 0,-2-1 0,11 27 0,41 80 0,-38-84 0,-3 0 0,-1 1 0,15 55 0,-7-10 0,-15-54 0,-3 0 0,11 60 0,-6 24 0,-5 118 0,-9-199 0,-1-12 0,1-2 0,0 2 0,2-2 0,0 0 0,2 2 0,9 29 0,-5-23 0,0 1 0,-1 0 0,-2 0 0,2 48 0,-9 129 0,-2-82 0,4 1091 0,-2-1173 0,-2 1 0,-3-3 0,-18 69 0,-1 4 0,20-67 0,2-2 0,2 53 0,4-68 0,-4 1 0,1 0 0,-2-1 0,-1 1 0,-1-2 0,-2 2 0,-11 32 0,8-37 0,4 0 0,-1 0 0,2 1 0,1 1 0,1-1 0,2-1 0,2 37 0,0-30 0,-2 2 0,-2 0 0,-11 61 0,-21 12 0,23-72 0,0 1 0,-9 62 0,9-39 0,-26 84 0,17-70 0,-52 133 0,47-135 0,16-44 0,-1 0 0,3 0 0,0 1 0,-5 55 0,10-52 0,-1 0 0,-1 0 0,-14 42 0,-30 82 0,42-131 0,0 2 0,-2 47 0,6-52 0,2-1 0,-3 0 0,0 1 0,-1-1 0,-15 35 0,10-35 0,4 2 0,-12 44 0,13-45 0,-2 1 0,-15 42 0,-8-5 0,0-2 0,-72 98 0,78-123 0,15-18 0,-3-1 0,1 1 0,-17 14 0,16-18 0,-8 8 0,-42 31 0,52-44 0,1-1 0,0-1 0,-1 1 0,1-1 0,-2 0 0,2-1 0,-2 0 0,-14 2 0,-26 2 0,-65 18 0,79-17 0,0-1 0,-62 2 0,-2 2 0,63-6 0,1-1 0,-2-3 0,2 1 0,-2-4 0,2 0 0,-2-4 0,-37-7 0,59 9 0,-2 0 0,2-3 0,0 2 0,1-2 0,-2-1 0,2 0 0,0-1 0,-26-20 0,-26-30 0,-106-116 0,150 145 0,2-4 0,-1 1 0,4-2 0,1 1 0,-17-46 0,27 65 0,0-1 0,0 1 0,-1 1 0,-17-20 0,16 22 0,0 0 0,1-1 0,1 0 0,0-1 0,-11-27 0,18 36 0,-10-30 0,-1 2 0,-1-1 0,-23-36 0,31 58 0,-1 0 0,1 0 0,1 0 0,0-2 0,-3-18 0,5 23 0,0-2 0,0 2 0,-1 0 0,-1-2 0,1 2 0,-1-1 0,-1 1 0,0 1 0,-7-11 0,0 3 0,0-1 0,1 0 0,2-1 0,-2 1 0,3-2 0,0 1 0,1-2 0,-7-32 0,-6-14 0,13 46 0,0 0 0,2 0 0,1-1 0,-3-23 0,6-64 0,1 73 0,0 2 0,-1-2 0,-3 2 0,-8-38 0,0 22 0,4-2 0,-7-98 0,16-108 0,3 93 0,8 5 0,2 3 0,-14 132 0,-2 4 0,2 0 0,2-1 0,0 1 0,1 0 0,10-39 0,-3 20 0,-2 1 0,-2-2 0,0 0 0,-4 0 0,-3-79 0,1 58 0,8-86 0,0 74 0,-4 27 0,19-79 0,-2 6 0,-17 87 0,1 0 0,15-48 0,-9 43 0,9-55 0,-3 5 0,3-5 0,-14 59 0,0 2 0,2-1 0,24-58 0,-24 68 0,-1 2 0,-2-1 0,1 0 0,-2-1 0,-2 1 0,0 0 0,-1-2 0,-4-38 0,2 38 0,1-1 0,0 1 0,1-1 0,2 2 0,1-2 0,0 1 0,12-33 0,129-408 0,-126 393 0,50-163 0,58-125 0,10-5 0,-41 119 0,-62 161 0,7-42 0,-33 92 0,3 0 0,-1 1 0,25-46 0,-15 41 0,-3-1 0,19-61 0,-32 91 0,0 1 0,0 0 0,2 0 0,-1 0 0,8-11 0,9-10 0,-18 23-170,0 1-1,0 1 0,0-1 1,0 1-1,0-2 0,0 2 1,10-6-1,12-5-6655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7:46:54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7:46:56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0 296 24575,'0'-3'0,"0"2"0,1-2 0,-1 2 0,2-2 0,-2 2 0,1-2 0,-1 2 0,1-2 0,1 2 0,-1-2 0,0 2 0,1 0 0,-1-2 0,0 2 0,1-1 0,-1 1 0,0 0 0,2-1 0,-2 1 0,3-2 0,46-23 0,-22 12 0,-11 6 0,2 0 0,-2 2 0,2-1 0,-1 2 0,1 1 0,0 0 0,1 1 0,-2 0 0,32 2 0,-18 0 0,0-2 0,44-9 0,204-48 0,-214 49 0,2 3 0,0 3 0,-1 4 0,72 5 0,7 0 0,-78-4 0,114-15 0,-88 6 0,1 3 0,104 9 0,-51 0 0,-128-5 27,1 0 0,-1-2-1,0 0 1,27-10 0,-23 8-527,0-1 1,33-2-1,-26 6-6326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7:46:56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1 228 24575,'1755'0'-1639,"-1731"-1"1771,1-2 0,-1-1-1,44-12 1,31-4-41,-17 5 420,117-35-1,-172 42-510,-2-2 0,2 0 0,-2-2 0,-1-2 0,0 1 0,29-23 0,-29 20-1365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7:47:08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3071 201 24575,'0'-1'0,"0"-1"0,-2 1 0,2 1 0,0-1 0,0-1 0,-1 2 0,1-1 0,-1 1 0,1-1 0,-2-1 0,2 2 0,-1-1 0,1 1 0,-1-1 0,1 1 0,-2-2 0,1 2 0,1 0 0,-1-1 0,1 1 0,-2 0 0,1-1 0,0 1 0,1 0 0,-2 0 0,1 0 0,1 0 0,-3 0 0,-33-6 0,31 6 0,-31-4 0,0-1 0,-59-19 0,66 19 0,-2-1 0,2 4 0,0-1 0,-41 3 0,-44-4 0,92 0 0,1 0 0,-32-11 0,33 9 0,0 0 0,-2 1 0,-19-2 0,-78 2 0,-50-6 0,114 6 0,-89 4 0,-32-3 0,154 0 0,-1 0 0,-26-11 0,29 8 0,-2 2 0,2 0 0,-24-2 0,-56 3 0,-113 8 0,193-1 0,0-1 0,0 2 0,0 2 0,0 0 0,0 1 0,1 0 0,1 2 0,-1 0 0,2 1 0,-1 0 0,1 2 0,0 0 0,1 2 0,1-1 0,0 2 0,1-1 0,-17 24 0,-1-4 0,28-28 0,-1-2 0,-1 1 0,2 0 0,0 1 0,-1-1 0,2 0 0,-1 1 0,0 0 0,2 0 0,-1 0 0,-4 12 0,-18 71 0,-46 107 0,53-147 0,7-18 0,-2-2 0,-19 34 0,12-24 0,-22 49 0,5-4 0,4-8 0,3 1 0,-20 87 0,19-61 0,8-42 0,15-42 0,2 1 0,-1 0 0,-6 37 0,-14 135 0,-12-68 0,13-41 0,19-63 0,0 0 0,1 0 0,-4 28 0,2 12 0,-12 190 0,18-220 0,-1-2 0,-1 1 0,-12 38 0,8-33 0,-7 60 0,13-26 0,2-47 0,0-1 0,-2 1 0,0-1 0,-1 0 0,-9 30 0,0-5 0,1 2 0,3-1 0,-4 84 0,7-61 0,-3 391 0,11-260 0,-3 831 0,2-1003 0,1 1 0,1-1 0,11 39 0,-6-33 0,6 60 0,-13-70 0,2-2 0,2 2 0,7 22 0,10 38 0,-11-16 0,4 100 0,-14-146 0,1 0 0,2 0 0,-1 0 0,3-1 0,0 0 0,18 35 0,8 31 0,-11-26 0,-8-19 0,0 0 0,-2 1 0,8 60 0,-15-69 0,3 0 0,11 36 0,-2-8 0,15 34 0,-23-74 0,1 2 0,-4 0 0,10 48 0,-9-37 0,0-2 0,2 2 0,2-3 0,17 40 0,-14-37 0,0-1 0,-2 4 0,9 50 0,-17-68 0,0 0 0,1 0 0,2 0 0,1 0 0,0-2 0,19 34 0,-15-25 0,0 0 0,12 49 0,4 10 0,-2 1 0,-23-71 0,1-1 0,0-1 0,1 1 0,1 0 0,0-2 0,1 2 0,0-2 0,1 0 0,1 1 0,12 12 0,65 77 0,-58-66 0,34 35 0,-48-58 0,-1-2 0,2 0 0,14 10 0,-22-18 0,1 0 0,-2 0 0,2-1 0,-1 0 0,1-1 0,0 1 0,0-2 0,0 2 0,12-2 0,159 26 0,-119-18 0,0 1 0,1-5 0,0-2 0,1-3 0,87-11 0,-118 6 0,-2-2 0,0-1 0,1-1 0,-2-2 0,42-20 0,130-86 0,-126 72 0,-33 18 0,64-53 0,-93 69 0,7-3 0,-2-4 0,26-26 0,13-14 0,-39 42 0,-1-2 0,28-35 0,-14 10 0,-4 5 0,0-2 0,-2 0 0,21-55 0,-37 79 0,-1 1 0,17-25 0,-16 30 0,-2-1 0,1 0 0,-2-1 0,1 0 0,-2 2 0,5-18 0,48-176 0,-57 204 0,40-164 0,-26 120 0,10-71 0,9-30 0,-25 111 0,0 1 0,3-47 0,-5 29 0,16-37 0,-16 67 0,0 0 0,-1-1 0,2-23 0,19-315 0,-4 216 0,-10 84 0,4-108 0,-15 131 0,3-1 0,13-58 0,3-12 0,-12 0 0,-8-166 0,-2 106 0,2-298 0,1 441 0,2 1 0,2 0 0,0 0 0,1 0 0,2 0 0,12-27 0,-10 22 0,1 0 0,-2-1 0,7-42 0,-9-28 0,-8-150 0,-2 87 0,18-278 0,-14 431 0,2-27 0,2 1 0,16-63 0,-13 62 0,0 0 0,-2-2 0,-2 0 0,-3-71 0,4-29 0,1 98 0,11-47 0,-9 52 0,-1 0 0,2-44 0,-8-550 0,-3 302 0,2 298 0,0-17 0,-7-53 0,6 84 0,-2 0 0,-1 1 0,0 1 0,-1-2 0,-1 1 0,1 0 0,-12-18 0,-29-43-1365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AF87D-B0C1-4959-909F-ED9046499EB8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9F81E-8236-49E3-998C-B0DEC1384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72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b28c0286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b28c0286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b28c02865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b28c02865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b28c02865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b28c02865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b28c02865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b28c02865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Range entropy: </a:t>
            </a:r>
            <a:r>
              <a:rPr lang="en"/>
              <a:t>0 … log2(num_class)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b28c02865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b28c02865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Range entropy: </a:t>
            </a:r>
            <a:r>
              <a:rPr lang="en"/>
              <a:t>0 … log2(num_class)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741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b28c02865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b28c02865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Range entropy: </a:t>
            </a:r>
            <a:r>
              <a:rPr lang="en"/>
              <a:t>0 … log2(num_class)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14422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b28c0286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b28c0286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b28c02865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b28c02865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28c0286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28c0286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28c0286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28c0286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2918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28c0286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28c0286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22859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28c0286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28c0286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37438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28c0286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28c0286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88543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28c0286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28c0286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7179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28c0286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28c0286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19118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28c0286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28c0286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25284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28c0286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28c0286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3036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28c0286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28c0286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65827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28c0286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28c0286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78251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28c0286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28c0286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89461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b28c0286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b28c0286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b28c02865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b28c02865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b28c02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b28c02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b28c02865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b28c02865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b28c02865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b28c02865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b28c02865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b28c02865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b28c02865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b28c02865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b28c0286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b28c0286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b28c02865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b28c02865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b28c02865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b28c02865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b28c02865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b28c02865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b28c02865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9b28c02865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b28c02865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9b28c02865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b28c02865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b28c02865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b28c02865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9b28c02865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b28c02865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9b28c02865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b28c02865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9b28c02865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b28c02865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9b28c02865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b28c02865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9b28c02865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b28c02865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9b28c02865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b28c02865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9b28c02865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b28c02865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9b28c02865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b28c02865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9b28c02865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9b28c02865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9b28c02865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b28c02865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9b28c02865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b28c02865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9b28c02865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9b28c02865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9b28c02865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b28c02865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9b28c02865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F9557-5518-4725-8641-6873F1AA3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7B337E-AC75-4315-97CF-FDD584108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1959E-C78A-4C57-B239-F39A01D7D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F608-F5C1-4C90-9908-86A7CFFB3261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7E2E4-3427-408D-87D9-096B59A8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D4D09-3D9E-492E-9E6B-492362F5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471C-994D-4B40-966D-518DC9C27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80E50-802F-4153-A616-1197C6CAE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4BCE1-056C-4909-9132-8B60665BB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C969D-1612-482F-8BB0-F3E58A41F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F608-F5C1-4C90-9908-86A7CFFB3261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24696-8C20-47E2-A49D-A33A9C673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A46BC-200B-4A13-95EC-0EE8FBC4F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471C-994D-4B40-966D-518DC9C27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65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87C7F-FF51-4299-A113-1B127B19D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AF6CB-8535-47CA-A3C9-01EF2A947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1EC7E-D09E-4AEA-8F10-B7DE738D2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F608-F5C1-4C90-9908-86A7CFFB3261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F0837-23D5-47CB-B59F-6A4B03B80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E0521-4925-4CD2-A368-494119536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471C-994D-4B40-966D-518DC9C27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30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42C0C-3216-49A9-B955-3B5D1E66D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3C089-4C15-4E4D-95A2-B63AC709A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BD4AE-776B-43DE-BD13-46B4D4485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52151-1CB4-41CE-9F33-1C51F683B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F608-F5C1-4C90-9908-86A7CFFB3261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E6CCD-732A-4673-8371-A8105F5B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83A3F-36BC-419A-BAA8-9E9454C7C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471C-994D-4B40-966D-518DC9C27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4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E920C-F3E3-4572-A9A8-CDE5E6E13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2E597-72C0-4D30-8DB8-A9BFB9001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0EA4B-8B23-4BDD-BC0C-4DF979CE4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9C7A7-4EA5-4348-968B-A85A58AD13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2B11B-CB5E-4ECC-A5B6-EF64F66C9E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999F07-6321-41AF-93FE-C3C6CF002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F608-F5C1-4C90-9908-86A7CFFB3261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9CD9D0-AFDC-4DF8-BE49-5EBFF88E4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5F8F94-828A-46BA-A9FF-8226F8F0F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471C-994D-4B40-966D-518DC9C27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32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742F7-F152-40FE-97A3-5AF88B5E8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F37A8A-E159-449D-8BB5-DC01A8B7B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F608-F5C1-4C90-9908-86A7CFFB3261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6F5335-1B37-4C07-8B42-F1AC91A84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1E915E-41C3-4AC8-B8CE-0162BB9F4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471C-994D-4B40-966D-518DC9C27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60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4A9487-DE6D-478F-88D6-B83320BED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F608-F5C1-4C90-9908-86A7CFFB3261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63083F-1254-4BF9-845D-39FCF42B4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6EB5F-D207-4827-BE2F-0354CB65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471C-994D-4B40-966D-518DC9C27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49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CCFC2-EAB9-4FCF-B0FA-E2641A594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871F5-FCE2-4B6F-A629-4F20B2D40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882E8C-C762-40AB-BA36-E607D913D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DA277-43D1-4A88-AA3F-9E6393FF9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F608-F5C1-4C90-9908-86A7CFFB3261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B37BA-A6E8-4729-AFDD-76C00504B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7F4EF-FC13-41D0-B130-CF9FEACC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471C-994D-4B40-966D-518DC9C27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4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F83F6-2016-466B-8523-8D215D4CB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19074-3C2E-4F2A-A0EC-564BED055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7D2855-CD29-4A00-A338-BC6A5731F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1A941-E194-48AA-837F-3CC6C8C36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F608-F5C1-4C90-9908-86A7CFFB3261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CE304-670C-4B8D-A605-855648A87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C75AE-04E2-49E8-98CD-BAF4AE6A2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471C-994D-4B40-966D-518DC9C27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48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387F-AC19-495F-8E1E-D91D59A23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8FC5B-7400-4778-B2A2-F6C50227E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6259F-08A3-44D2-A9F1-4B452017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F608-F5C1-4C90-9908-86A7CFFB3261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65FEB-1E09-4789-8656-7D7B183A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341F1-E620-4E8E-B21F-0A6441600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471C-994D-4B40-966D-518DC9C27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87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94F835-D0D1-433E-9210-0AEDA5C413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A19DA-B8A4-46F6-A23A-474326171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0C7ED-E33A-4349-9AB2-74E4EA4AE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F608-F5C1-4C90-9908-86A7CFFB3261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3F2C0-E0D9-46B4-A838-A7B08D6B3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933A4-3C52-4072-8258-6BB41A1E0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471C-994D-4B40-966D-518DC9C27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69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04381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6922E0-33ED-42A9-8A92-56C11C661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235D2-6A30-475B-ACF9-F67056EB0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14C6B-1558-49AC-9FB1-BB91D7365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8F608-F5C1-4C90-9908-86A7CFFB3261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F8DBF-CD85-4651-90A9-7DDF58071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61634-EC23-4B02-9CC6-0121E96C2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6471C-994D-4B40-966D-518DC9C27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7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pn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8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customXml" Target="../ink/ink1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2.png"/><Relationship Id="rId4" Type="http://schemas.openxmlformats.org/officeDocument/2006/relationships/customXml" Target="../ink/ink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9.png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5" Type="http://schemas.openxmlformats.org/officeDocument/2006/relationships/customXml" Target="../ink/ink4.xml"/><Relationship Id="rId10" Type="http://schemas.openxmlformats.org/officeDocument/2006/relationships/image" Target="../media/image53.png"/><Relationship Id="rId4" Type="http://schemas.openxmlformats.org/officeDocument/2006/relationships/image" Target="../media/image50.png"/><Relationship Id="rId9" Type="http://schemas.openxmlformats.org/officeDocument/2006/relationships/customXml" Target="../ink/ink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4.png"/><Relationship Id="rId4" Type="http://schemas.openxmlformats.org/officeDocument/2006/relationships/customXml" Target="../ink/ink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What is Decision Tree?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067" y="1560167"/>
            <a:ext cx="8021715" cy="45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56981" y="2236733"/>
            <a:ext cx="2831819" cy="2869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804" y="1886429"/>
            <a:ext cx="1598400" cy="5907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15"/>
          <p:cNvCxnSpPr>
            <a:endCxn id="69" idx="3"/>
          </p:cNvCxnSpPr>
          <p:nvPr/>
        </p:nvCxnSpPr>
        <p:spPr>
          <a:xfrm flipH="1">
            <a:off x="2083204" y="1994185"/>
            <a:ext cx="2302800" cy="187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1" name="Google Shape;7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604" y="3289667"/>
            <a:ext cx="1364123" cy="763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" name="Google Shape;72;p15"/>
          <p:cNvCxnSpPr>
            <a:endCxn id="71" idx="3"/>
          </p:cNvCxnSpPr>
          <p:nvPr/>
        </p:nvCxnSpPr>
        <p:spPr>
          <a:xfrm flipH="1">
            <a:off x="1542727" y="3356267"/>
            <a:ext cx="614000" cy="315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3" name="Google Shape;73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68251" y="5916580"/>
            <a:ext cx="1795452" cy="6599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p15"/>
          <p:cNvCxnSpPr>
            <a:endCxn id="73" idx="0"/>
          </p:cNvCxnSpPr>
          <p:nvPr/>
        </p:nvCxnSpPr>
        <p:spPr>
          <a:xfrm>
            <a:off x="1908377" y="5492980"/>
            <a:ext cx="957600" cy="42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p15"/>
          <p:cNvCxnSpPr>
            <a:endCxn id="73" idx="0"/>
          </p:cNvCxnSpPr>
          <p:nvPr/>
        </p:nvCxnSpPr>
        <p:spPr>
          <a:xfrm flipH="1">
            <a:off x="2865977" y="5443380"/>
            <a:ext cx="814800" cy="473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" name="Google Shape;76;p15"/>
          <p:cNvSpPr txBox="1"/>
          <p:nvPr/>
        </p:nvSpPr>
        <p:spPr>
          <a:xfrm>
            <a:off x="1626700" y="3996317"/>
            <a:ext cx="7828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 sz="24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3420167" y="3996318"/>
            <a:ext cx="7828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 sz="24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801133" y="3902767"/>
            <a:ext cx="396400" cy="381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9" name="Google Shape;79;p15"/>
          <p:cNvSpPr txBox="1"/>
          <p:nvPr/>
        </p:nvSpPr>
        <p:spPr>
          <a:xfrm>
            <a:off x="5662496" y="3671301"/>
            <a:ext cx="1364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excellent</a:t>
            </a:r>
            <a:endParaRPr sz="24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7441099" y="3671300"/>
            <a:ext cx="9648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fair</a:t>
            </a:r>
            <a:endParaRPr sz="24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202968" y="5810068"/>
            <a:ext cx="18116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buys computer</a:t>
            </a:r>
            <a:endParaRPr sz="24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What is Decision Tree?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07267"/>
            <a:ext cx="5680400" cy="3243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8334" y="2769434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71605" y="1807264"/>
            <a:ext cx="3004792" cy="235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Introducing Information Gain!</a:t>
            </a:r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Pengukuran </a:t>
            </a:r>
            <a:r>
              <a:rPr lang="en" b="1">
                <a:solidFill>
                  <a:schemeClr val="accent1"/>
                </a:solidFill>
              </a:rPr>
              <a:t>seberapa baik sebuah fitur</a:t>
            </a:r>
            <a:r>
              <a:rPr lang="en">
                <a:solidFill>
                  <a:schemeClr val="dk1"/>
                </a:solidFill>
              </a:rPr>
              <a:t> mampu </a:t>
            </a:r>
            <a:r>
              <a:rPr lang="en" b="1">
                <a:solidFill>
                  <a:schemeClr val="accent1"/>
                </a:solidFill>
              </a:rPr>
              <a:t>memisahkan data berdasarkan kelasnya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buClr>
                <a:schemeClr val="dk1"/>
              </a:buClr>
            </a:pPr>
            <a:r>
              <a:rPr lang="en" b="1">
                <a:solidFill>
                  <a:schemeClr val="accent1"/>
                </a:solidFill>
              </a:rPr>
              <a:t>Semakin tinggi nilai IG</a:t>
            </a:r>
            <a:r>
              <a:rPr lang="en">
                <a:solidFill>
                  <a:schemeClr val="dk1"/>
                </a:solidFill>
              </a:rPr>
              <a:t>, maka fitur </a:t>
            </a:r>
            <a:r>
              <a:rPr lang="en" b="1">
                <a:solidFill>
                  <a:schemeClr val="accent1"/>
                </a:solidFill>
              </a:rPr>
              <a:t>semakin berpeluang menjadi </a:t>
            </a:r>
            <a:r>
              <a:rPr lang="en" b="1" i="1">
                <a:solidFill>
                  <a:schemeClr val="accent1"/>
                </a:solidFill>
              </a:rPr>
              <a:t>root node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Fitur dengan nilai IG tertinggi disebut </a:t>
            </a:r>
            <a:r>
              <a:rPr lang="en" i="1">
                <a:solidFill>
                  <a:schemeClr val="dk1"/>
                </a:solidFill>
              </a:rPr>
              <a:t>best splitting attribute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Untuk menghitung IG, perlu mengukur </a:t>
            </a:r>
            <a:r>
              <a:rPr lang="en" i="1">
                <a:solidFill>
                  <a:schemeClr val="dk1"/>
                </a:solidFill>
              </a:rPr>
              <a:t>impurity</a:t>
            </a:r>
            <a:r>
              <a:rPr lang="en">
                <a:solidFill>
                  <a:schemeClr val="dk1"/>
                </a:solidFill>
              </a:rPr>
              <a:t> atau </a:t>
            </a:r>
            <a:r>
              <a:rPr lang="en" i="1">
                <a:solidFill>
                  <a:schemeClr val="dk1"/>
                </a:solidFill>
              </a:rPr>
              <a:t>entropy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Introducing Information Gain!</a:t>
            </a:r>
            <a:endParaRPr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600" y="2164782"/>
            <a:ext cx="9552797" cy="343656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9D21FC1-8A94-419D-8721-36860A74EA04}"/>
              </a:ext>
            </a:extLst>
          </p:cNvPr>
          <p:cNvSpPr txBox="1"/>
          <p:nvPr/>
        </p:nvSpPr>
        <p:spPr>
          <a:xfrm>
            <a:off x="600428" y="1160710"/>
            <a:ext cx="91358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Entropy / impurity </a:t>
            </a:r>
            <a:r>
              <a:rPr lang="en-US" sz="2400" dirty="0" err="1"/>
              <a:t>sendiri</a:t>
            </a:r>
            <a:r>
              <a:rPr lang="en-US" sz="2400" dirty="0"/>
              <a:t> </a:t>
            </a:r>
            <a:r>
              <a:rPr lang="en-US" sz="2400" dirty="0" err="1"/>
              <a:t>artinya</a:t>
            </a:r>
            <a:r>
              <a:rPr lang="en-US" sz="2400" dirty="0"/>
              <a:t> </a:t>
            </a:r>
            <a:r>
              <a:rPr lang="en-US" sz="2400" dirty="0" err="1"/>
              <a:t>pengukuran</a:t>
            </a:r>
            <a:r>
              <a:rPr lang="en-US" sz="2400" dirty="0"/>
              <a:t> </a:t>
            </a:r>
            <a:r>
              <a:rPr lang="en-US" sz="2400" dirty="0" err="1"/>
              <a:t>seberapa</a:t>
            </a:r>
            <a:r>
              <a:rPr lang="en-US" sz="2400" dirty="0"/>
              <a:t> class </a:t>
            </a:r>
            <a:r>
              <a:rPr lang="en-US" sz="2400" dirty="0" err="1"/>
              <a:t>atau</a:t>
            </a:r>
            <a:r>
              <a:rPr lang="en-US" sz="2400" dirty="0"/>
              <a:t> label </a:t>
            </a:r>
            <a:r>
              <a:rPr lang="en-US" sz="2400" dirty="0" err="1"/>
              <a:t>dalam</a:t>
            </a:r>
            <a:r>
              <a:rPr lang="en-US" sz="2400" dirty="0"/>
              <a:t> data</a:t>
            </a:r>
          </a:p>
          <a:p>
            <a:r>
              <a:rPr lang="en-US" sz="2400" dirty="0" err="1"/>
              <a:t>Disini</a:t>
            </a:r>
            <a:r>
              <a:rPr lang="en-US" sz="2400" dirty="0"/>
              <a:t> </a:t>
            </a:r>
            <a:r>
              <a:rPr lang="en-US" sz="2400" dirty="0" err="1"/>
              <a:t>makin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kanan</a:t>
            </a:r>
            <a:r>
              <a:rPr lang="en-US" sz="2400" dirty="0"/>
              <a:t> entropy nya </a:t>
            </a:r>
            <a:r>
              <a:rPr lang="en-US" sz="2400" dirty="0" err="1"/>
              <a:t>makin</a:t>
            </a:r>
            <a:r>
              <a:rPr lang="en-US" sz="2400" dirty="0"/>
              <a:t> </a:t>
            </a:r>
            <a:r>
              <a:rPr lang="en-US" sz="2400" dirty="0" err="1"/>
              <a:t>kecil</a:t>
            </a:r>
            <a:endParaRPr lang="en-US" sz="2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34B3DE-3C81-45D4-8CE5-97946D00E295}"/>
              </a:ext>
            </a:extLst>
          </p:cNvPr>
          <p:cNvSpPr txBox="1"/>
          <p:nvPr/>
        </p:nvSpPr>
        <p:spPr>
          <a:xfrm>
            <a:off x="1192697" y="5451062"/>
            <a:ext cx="3127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Impure / entropy </a:t>
            </a:r>
            <a:r>
              <a:rPr lang="en-US" sz="2400" dirty="0" err="1"/>
              <a:t>tinggi</a:t>
            </a:r>
            <a:endParaRPr lang="en-US" sz="2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B03E65-9657-4F0A-BA6A-C429AB7C1E42}"/>
              </a:ext>
            </a:extLst>
          </p:cNvPr>
          <p:cNvSpPr txBox="1"/>
          <p:nvPr/>
        </p:nvSpPr>
        <p:spPr>
          <a:xfrm>
            <a:off x="5168349" y="5640562"/>
            <a:ext cx="31275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Impure / entropy </a:t>
            </a:r>
            <a:r>
              <a:rPr lang="en-US" sz="2400" dirty="0" err="1"/>
              <a:t>rendah</a:t>
            </a:r>
            <a:r>
              <a:rPr lang="en-US" sz="2400" dirty="0"/>
              <a:t>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1F6C3D-AAFE-45BC-95B8-047FE8AF8D52}"/>
              </a:ext>
            </a:extLst>
          </p:cNvPr>
          <p:cNvSpPr txBox="1"/>
          <p:nvPr/>
        </p:nvSpPr>
        <p:spPr>
          <a:xfrm>
            <a:off x="8295862" y="5565114"/>
            <a:ext cx="3127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Impure / entropy = 0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Introducing Information Gain!</a:t>
            </a:r>
            <a:endParaRPr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600" y="2164782"/>
            <a:ext cx="9552797" cy="343656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9D21FC1-8A94-419D-8721-36860A74EA04}"/>
              </a:ext>
            </a:extLst>
          </p:cNvPr>
          <p:cNvSpPr txBox="1"/>
          <p:nvPr/>
        </p:nvSpPr>
        <p:spPr>
          <a:xfrm>
            <a:off x="700175" y="1115843"/>
            <a:ext cx="91358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Entropy / impurity </a:t>
            </a:r>
            <a:r>
              <a:rPr lang="en-US" sz="2400" dirty="0" err="1"/>
              <a:t>sendiri</a:t>
            </a:r>
            <a:r>
              <a:rPr lang="en-US" sz="2400" dirty="0"/>
              <a:t> </a:t>
            </a:r>
            <a:r>
              <a:rPr lang="en-US" sz="2400" dirty="0" err="1"/>
              <a:t>artinya</a:t>
            </a:r>
            <a:r>
              <a:rPr lang="en-US" sz="2400" dirty="0"/>
              <a:t> </a:t>
            </a:r>
            <a:r>
              <a:rPr lang="en-US" sz="2400" dirty="0" err="1"/>
              <a:t>pengukuran</a:t>
            </a:r>
            <a:r>
              <a:rPr lang="en-US" sz="2400" dirty="0"/>
              <a:t> </a:t>
            </a:r>
            <a:r>
              <a:rPr lang="en-US" sz="2400" dirty="0" err="1"/>
              <a:t>seberapa</a:t>
            </a:r>
            <a:r>
              <a:rPr lang="en-US" sz="2400" dirty="0"/>
              <a:t> class </a:t>
            </a:r>
            <a:r>
              <a:rPr lang="en-US" sz="2400" dirty="0" err="1"/>
              <a:t>atau</a:t>
            </a:r>
            <a:r>
              <a:rPr lang="en-US" sz="2400" dirty="0"/>
              <a:t> label </a:t>
            </a:r>
            <a:r>
              <a:rPr lang="en-US" sz="2400" dirty="0" err="1"/>
              <a:t>dalam</a:t>
            </a:r>
            <a:r>
              <a:rPr lang="en-US" sz="2400" dirty="0"/>
              <a:t> data</a:t>
            </a:r>
          </a:p>
          <a:p>
            <a:r>
              <a:rPr lang="en-US" sz="2400" dirty="0" err="1"/>
              <a:t>Disini</a:t>
            </a:r>
            <a:r>
              <a:rPr lang="en-US" sz="2400" dirty="0"/>
              <a:t> </a:t>
            </a:r>
            <a:r>
              <a:rPr lang="en-US" sz="2400" dirty="0" err="1"/>
              <a:t>makin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kanan</a:t>
            </a:r>
            <a:r>
              <a:rPr lang="en-US" sz="2400" dirty="0"/>
              <a:t> entropy nya </a:t>
            </a:r>
            <a:r>
              <a:rPr lang="en-US" sz="2400" dirty="0" err="1"/>
              <a:t>makin</a:t>
            </a:r>
            <a:r>
              <a:rPr lang="en-US" sz="2400" dirty="0"/>
              <a:t> </a:t>
            </a:r>
            <a:r>
              <a:rPr lang="en-US" sz="2400" dirty="0" err="1"/>
              <a:t>kecil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D44EFC-AFB8-47E2-B6D7-7AFC1AA506F5}"/>
              </a:ext>
            </a:extLst>
          </p:cNvPr>
          <p:cNvSpPr txBox="1"/>
          <p:nvPr/>
        </p:nvSpPr>
        <p:spPr>
          <a:xfrm>
            <a:off x="415601" y="5442227"/>
            <a:ext cx="55743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Entropy </a:t>
            </a:r>
            <a:r>
              <a:rPr lang="en-US" sz="2400" dirty="0" err="1"/>
              <a:t>dimulai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0 </a:t>
            </a:r>
            <a:r>
              <a:rPr lang="en-US" sz="2400" dirty="0" err="1"/>
              <a:t>hingga</a:t>
            </a:r>
            <a:r>
              <a:rPr lang="en-US" sz="2400" dirty="0"/>
              <a:t> </a:t>
            </a:r>
            <a:r>
              <a:rPr lang="en-US" sz="24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[0, </a:t>
            </a:r>
            <a:r>
              <a:rPr lang="en-US" sz="24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</a:p>
          <a:p>
            <a:endParaRPr lang="en-US" sz="2400" spc="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A0D7FD-48BD-497D-BACE-1387D9DBADDC}"/>
              </a:ext>
            </a:extLst>
          </p:cNvPr>
          <p:cNvSpPr txBox="1"/>
          <p:nvPr/>
        </p:nvSpPr>
        <p:spPr>
          <a:xfrm>
            <a:off x="295734" y="2864860"/>
            <a:ext cx="3692573" cy="91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67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</a:t>
            </a:r>
            <a:r>
              <a:rPr lang="en-US" sz="1867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</a:t>
            </a:r>
            <a:r>
              <a:rPr lang="en-US" sz="1867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karena</a:t>
            </a:r>
            <a:r>
              <a:rPr lang="en-US" sz="1867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67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disini</a:t>
            </a:r>
            <a:r>
              <a:rPr lang="en-US" sz="1867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67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hanya</a:t>
            </a:r>
            <a:r>
              <a:rPr lang="en-US" sz="1867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67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</a:t>
            </a:r>
            <a:r>
              <a:rPr lang="en-US" sz="1867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 </a:t>
            </a:r>
            <a:r>
              <a:rPr lang="en-US" sz="1867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kelas</a:t>
            </a:r>
            <a:endParaRPr lang="en-US" sz="1867" baseline="-2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Kalo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3 </a:t>
            </a:r>
            <a:r>
              <a:rPr lang="en-US" sz="24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kelas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jadinya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nanti</a:t>
            </a:r>
            <a:endParaRPr lang="en-US" sz="2400" baseline="-2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67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</a:t>
            </a:r>
            <a:r>
              <a:rPr lang="en-US" sz="1867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870A06-FB81-4D48-A5EA-3B2CD0021567}"/>
              </a:ext>
            </a:extLst>
          </p:cNvPr>
          <p:cNvSpPr txBox="1"/>
          <p:nvPr/>
        </p:nvSpPr>
        <p:spPr>
          <a:xfrm>
            <a:off x="6202020" y="5602120"/>
            <a:ext cx="56942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baseline="30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867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</a:t>
            </a:r>
            <a:r>
              <a:rPr lang="en-US" sz="1867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867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67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1, </a:t>
            </a:r>
            <a:r>
              <a:rPr lang="en-US" sz="1867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kalo</a:t>
            </a:r>
            <a:r>
              <a:rPr lang="en-US" sz="1867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basis (a) dan numerus (a) </a:t>
            </a:r>
            <a:r>
              <a:rPr lang="en-US" sz="1867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hasilnya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endParaRPr lang="en-US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E3B0B49-5E41-47F3-B7D3-BC007945A596}"/>
              </a:ext>
            </a:extLst>
          </p:cNvPr>
          <p:cNvCxnSpPr/>
          <p:nvPr/>
        </p:nvCxnSpPr>
        <p:spPr>
          <a:xfrm flipV="1">
            <a:off x="6399616" y="5424653"/>
            <a:ext cx="609600" cy="256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727ED0-8B12-424A-8BAF-DBEA25FC68E8}"/>
              </a:ext>
            </a:extLst>
          </p:cNvPr>
          <p:cNvCxnSpPr>
            <a:cxnSpLocks/>
          </p:cNvCxnSpPr>
          <p:nvPr/>
        </p:nvCxnSpPr>
        <p:spPr>
          <a:xfrm>
            <a:off x="6832846" y="5958717"/>
            <a:ext cx="440804" cy="276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FAC9B9D-4EB8-4525-B8F8-F13DCC4B9A69}"/>
              </a:ext>
            </a:extLst>
          </p:cNvPr>
          <p:cNvSpPr txBox="1"/>
          <p:nvPr/>
        </p:nvSpPr>
        <p:spPr>
          <a:xfrm>
            <a:off x="6893983" y="5212796"/>
            <a:ext cx="842156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/>
              <a:t>basis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1978FF-AEF6-404B-A0E9-0B3201758B48}"/>
              </a:ext>
            </a:extLst>
          </p:cNvPr>
          <p:cNvSpPr txBox="1"/>
          <p:nvPr/>
        </p:nvSpPr>
        <p:spPr>
          <a:xfrm>
            <a:off x="7265285" y="6047520"/>
            <a:ext cx="1269115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/>
              <a:t>numerus</a:t>
            </a:r>
          </a:p>
        </p:txBody>
      </p:sp>
    </p:spTree>
    <p:extLst>
      <p:ext uri="{BB962C8B-B14F-4D97-AF65-F5344CB8AC3E}">
        <p14:creationId xmlns:p14="http://schemas.microsoft.com/office/powerpoint/2010/main" val="4066738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Introducing Information Gain!</a:t>
            </a:r>
            <a:endParaRPr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600" y="2164782"/>
            <a:ext cx="9552797" cy="343656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9D21FC1-8A94-419D-8721-36860A74EA04}"/>
              </a:ext>
            </a:extLst>
          </p:cNvPr>
          <p:cNvSpPr txBox="1"/>
          <p:nvPr/>
        </p:nvSpPr>
        <p:spPr>
          <a:xfrm>
            <a:off x="498840" y="1090373"/>
            <a:ext cx="91358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Entropy / impurity </a:t>
            </a:r>
            <a:r>
              <a:rPr lang="en-US" sz="2400" dirty="0" err="1"/>
              <a:t>sendiri</a:t>
            </a:r>
            <a:r>
              <a:rPr lang="en-US" sz="2400" dirty="0"/>
              <a:t> </a:t>
            </a:r>
            <a:r>
              <a:rPr lang="en-US" sz="2400" dirty="0" err="1"/>
              <a:t>artinya</a:t>
            </a:r>
            <a:r>
              <a:rPr lang="en-US" sz="2400" dirty="0"/>
              <a:t> </a:t>
            </a:r>
            <a:r>
              <a:rPr lang="en-US" sz="2400" dirty="0" err="1"/>
              <a:t>pengukuran</a:t>
            </a:r>
            <a:r>
              <a:rPr lang="en-US" sz="2400" dirty="0"/>
              <a:t> </a:t>
            </a:r>
            <a:r>
              <a:rPr lang="en-US" sz="2400" dirty="0" err="1"/>
              <a:t>seberapa</a:t>
            </a:r>
            <a:r>
              <a:rPr lang="en-US" sz="2400" dirty="0"/>
              <a:t> class </a:t>
            </a:r>
            <a:r>
              <a:rPr lang="en-US" sz="2400" dirty="0" err="1"/>
              <a:t>atau</a:t>
            </a:r>
            <a:r>
              <a:rPr lang="en-US" sz="2400" dirty="0"/>
              <a:t> label </a:t>
            </a:r>
            <a:r>
              <a:rPr lang="en-US" sz="2400" dirty="0" err="1"/>
              <a:t>dalam</a:t>
            </a:r>
            <a:r>
              <a:rPr lang="en-US" sz="2400" dirty="0"/>
              <a:t> data</a:t>
            </a:r>
          </a:p>
          <a:p>
            <a:r>
              <a:rPr lang="en-US" sz="2400" dirty="0" err="1"/>
              <a:t>Disini</a:t>
            </a:r>
            <a:r>
              <a:rPr lang="en-US" sz="2400" dirty="0"/>
              <a:t> </a:t>
            </a:r>
            <a:r>
              <a:rPr lang="en-US" sz="2400" dirty="0" err="1"/>
              <a:t>makin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kanan</a:t>
            </a:r>
            <a:r>
              <a:rPr lang="en-US" sz="2400" dirty="0"/>
              <a:t> entropy nya </a:t>
            </a:r>
            <a:r>
              <a:rPr lang="en-US" sz="2400" dirty="0" err="1"/>
              <a:t>makin</a:t>
            </a:r>
            <a:r>
              <a:rPr lang="en-US" sz="2400" dirty="0"/>
              <a:t> </a:t>
            </a:r>
            <a:r>
              <a:rPr lang="en-US" sz="2400" dirty="0" err="1"/>
              <a:t>kecil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A0D7FD-48BD-497D-BACE-1387D9DBADDC}"/>
              </a:ext>
            </a:extLst>
          </p:cNvPr>
          <p:cNvSpPr txBox="1"/>
          <p:nvPr/>
        </p:nvSpPr>
        <p:spPr>
          <a:xfrm>
            <a:off x="415600" y="2694610"/>
            <a:ext cx="3692573" cy="91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67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</a:t>
            </a:r>
            <a:r>
              <a:rPr lang="en-US" sz="1867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</a:t>
            </a:r>
            <a:r>
              <a:rPr lang="en-US" sz="1867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karena</a:t>
            </a:r>
            <a:r>
              <a:rPr lang="en-US" sz="1867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67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disini</a:t>
            </a:r>
            <a:r>
              <a:rPr lang="en-US" sz="1867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67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hanya</a:t>
            </a:r>
            <a:r>
              <a:rPr lang="en-US" sz="1867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67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</a:t>
            </a:r>
            <a:r>
              <a:rPr lang="en-US" sz="1867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 </a:t>
            </a:r>
            <a:r>
              <a:rPr lang="en-US" sz="1867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kelas</a:t>
            </a:r>
            <a:endParaRPr lang="en-US" sz="1867" baseline="-2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Kalo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3 </a:t>
            </a:r>
            <a:r>
              <a:rPr lang="en-US" sz="24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kelas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jadinya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nanti</a:t>
            </a:r>
            <a:endParaRPr lang="en-US" sz="2400" baseline="-2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67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</a:t>
            </a:r>
            <a:r>
              <a:rPr lang="en-US" sz="1867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65BD5-E3DA-4D4D-89B1-D1F7CC7636C3}"/>
              </a:ext>
            </a:extLst>
          </p:cNvPr>
          <p:cNvSpPr txBox="1"/>
          <p:nvPr/>
        </p:nvSpPr>
        <p:spPr>
          <a:xfrm>
            <a:off x="574262" y="5371549"/>
            <a:ext cx="100274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Kalo</a:t>
            </a:r>
            <a:r>
              <a:rPr lang="en-US" sz="1600" dirty="0"/>
              <a:t> </a:t>
            </a:r>
            <a:r>
              <a:rPr lang="en-US" sz="1600" dirty="0" err="1"/>
              <a:t>kasusnya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multiple class kaya , “</a:t>
            </a:r>
            <a:r>
              <a:rPr lang="en-US" sz="1600" dirty="0" err="1"/>
              <a:t>bagus</a:t>
            </a:r>
            <a:r>
              <a:rPr lang="en-US" sz="1600" dirty="0"/>
              <a:t>”, “</a:t>
            </a:r>
            <a:r>
              <a:rPr lang="en-US" sz="1600" dirty="0" err="1"/>
              <a:t>jelek</a:t>
            </a:r>
            <a:r>
              <a:rPr lang="en-US" sz="1600" dirty="0"/>
              <a:t>” dan “</a:t>
            </a:r>
            <a:r>
              <a:rPr lang="en-US" sz="1600" dirty="0" err="1"/>
              <a:t>netral</a:t>
            </a:r>
            <a:r>
              <a:rPr lang="en-US" sz="1600" dirty="0"/>
              <a:t>” = 3 = [0, 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</a:t>
            </a:r>
            <a:r>
              <a:rPr lang="en-US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  </a:t>
            </a:r>
            <a:r>
              <a:rPr lang="en-US" sz="1600" dirty="0" err="1"/>
              <a:t>atau</a:t>
            </a:r>
            <a:r>
              <a:rPr lang="en-US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</a:t>
            </a:r>
            <a:r>
              <a:rPr lang="en-US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</a:p>
          <a:p>
            <a:r>
              <a:rPr lang="en-US" sz="1600" dirty="0" err="1"/>
              <a:t>Kalo</a:t>
            </a:r>
            <a:r>
              <a:rPr lang="en-US" sz="1600" dirty="0"/>
              <a:t> </a:t>
            </a:r>
            <a:r>
              <a:rPr lang="en-US" sz="1600" dirty="0" err="1"/>
              <a:t>kasusnya</a:t>
            </a:r>
            <a:r>
              <a:rPr lang="en-US" sz="1600" dirty="0"/>
              <a:t> </a:t>
            </a:r>
            <a:r>
              <a:rPr lang="en-US" sz="1600" dirty="0" err="1"/>
              <a:t>cuman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2 class kaya , “1”, dan “0” = 2 = [0, 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</a:t>
            </a:r>
            <a:r>
              <a:rPr lang="en-US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</a:t>
            </a:r>
            <a:r>
              <a:rPr lang="en-US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en-US" sz="1600" dirty="0"/>
          </a:p>
          <a:p>
            <a:r>
              <a:rPr lang="en-US" sz="1600" dirty="0" err="1"/>
              <a:t>Kalo</a:t>
            </a:r>
            <a:r>
              <a:rPr lang="en-US" sz="1600" dirty="0"/>
              <a:t> </a:t>
            </a:r>
            <a:r>
              <a:rPr lang="en-US" sz="1600" dirty="0" err="1"/>
              <a:t>kasusnya</a:t>
            </a:r>
            <a:r>
              <a:rPr lang="en-US" sz="1600" dirty="0"/>
              <a:t> </a:t>
            </a:r>
            <a:r>
              <a:rPr lang="en-US" sz="1600" dirty="0" err="1"/>
              <a:t>cuman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1 class, </a:t>
            </a:r>
            <a:r>
              <a:rPr lang="en-US" sz="1600" dirty="0" err="1"/>
              <a:t>semisal</a:t>
            </a:r>
            <a:r>
              <a:rPr lang="en-US" sz="1600" dirty="0"/>
              <a:t> “yes” </a:t>
            </a:r>
            <a:r>
              <a:rPr lang="en-US" sz="1600" dirty="0" err="1"/>
              <a:t>semua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“no” </a:t>
            </a:r>
            <a:r>
              <a:rPr lang="en-US" sz="1600" dirty="0" err="1"/>
              <a:t>semua</a:t>
            </a:r>
            <a:r>
              <a:rPr lang="en-US" sz="1600" dirty="0"/>
              <a:t> = 1 = [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</a:t>
            </a:r>
            <a:r>
              <a:rPr lang="en-US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</a:t>
            </a:r>
            <a:r>
              <a:rPr lang="en-US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/>
              <a:t>0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04553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Calculate Info Gain?</a:t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1923400"/>
            <a:ext cx="5462900" cy="399886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/>
        </p:nvSpPr>
        <p:spPr>
          <a:xfrm>
            <a:off x="5914733" y="2108200"/>
            <a:ext cx="5642400" cy="36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2533" b="1" i="1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Info(D)</a:t>
            </a:r>
            <a:r>
              <a:rPr lang="en" sz="2533" b="1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 = entropy seluruh data (</a:t>
            </a:r>
            <a:r>
              <a:rPr lang="en" sz="2533" b="1" i="1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parent</a:t>
            </a:r>
            <a:r>
              <a:rPr lang="en" sz="2533" b="1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)</a:t>
            </a:r>
            <a:endParaRPr sz="2533" b="1">
              <a:solidFill>
                <a:schemeClr val="accent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>
              <a:lnSpc>
                <a:spcPct val="115000"/>
              </a:lnSpc>
            </a:pPr>
            <a:r>
              <a:rPr lang="en" sz="2533" i="1">
                <a:latin typeface="Candara"/>
                <a:ea typeface="Candara"/>
                <a:cs typeface="Candara"/>
                <a:sym typeface="Candara"/>
              </a:rPr>
              <a:t>p</a:t>
            </a:r>
            <a:r>
              <a:rPr lang="en" sz="2533" i="1" baseline="-25000">
                <a:latin typeface="Candara"/>
                <a:ea typeface="Candara"/>
                <a:cs typeface="Candara"/>
                <a:sym typeface="Candara"/>
              </a:rPr>
              <a:t>i</a:t>
            </a:r>
            <a:r>
              <a:rPr lang="en" sz="2533">
                <a:latin typeface="Candara"/>
                <a:ea typeface="Candara"/>
                <a:cs typeface="Candara"/>
                <a:sym typeface="Candara"/>
              </a:rPr>
              <a:t> = proporsi fitur dengan kelas </a:t>
            </a:r>
            <a:r>
              <a:rPr lang="en" sz="2533" i="1">
                <a:latin typeface="Candara"/>
                <a:ea typeface="Candara"/>
                <a:cs typeface="Candara"/>
                <a:sym typeface="Candara"/>
              </a:rPr>
              <a:t>i</a:t>
            </a:r>
            <a:endParaRPr sz="2533" i="1">
              <a:latin typeface="Candara"/>
              <a:ea typeface="Candara"/>
              <a:cs typeface="Candara"/>
              <a:sym typeface="Candara"/>
            </a:endParaRPr>
          </a:p>
          <a:p>
            <a:pPr>
              <a:lnSpc>
                <a:spcPct val="115000"/>
              </a:lnSpc>
            </a:pPr>
            <a:r>
              <a:rPr lang="en" sz="2533" i="1">
                <a:latin typeface="Candara"/>
                <a:ea typeface="Candara"/>
                <a:cs typeface="Candara"/>
                <a:sym typeface="Candara"/>
              </a:rPr>
              <a:t>m </a:t>
            </a:r>
            <a:r>
              <a:rPr lang="en" sz="2533">
                <a:latin typeface="Candara"/>
                <a:ea typeface="Candara"/>
                <a:cs typeface="Candara"/>
                <a:sym typeface="Candara"/>
              </a:rPr>
              <a:t>= jumlah kelas unik</a:t>
            </a:r>
            <a:endParaRPr sz="2533">
              <a:latin typeface="Candara"/>
              <a:ea typeface="Candara"/>
              <a:cs typeface="Candara"/>
              <a:sym typeface="Candara"/>
            </a:endParaRPr>
          </a:p>
          <a:p>
            <a:pPr>
              <a:lnSpc>
                <a:spcPct val="115000"/>
              </a:lnSpc>
              <a:spcBef>
                <a:spcPts val="1333"/>
              </a:spcBef>
            </a:pPr>
            <a:r>
              <a:rPr lang="en" sz="2533" b="1" i="1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Info</a:t>
            </a:r>
            <a:r>
              <a:rPr lang="en" sz="2533" b="1" i="1" baseline="-25000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A</a:t>
            </a:r>
            <a:r>
              <a:rPr lang="en" sz="2533" b="1" i="1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(D)</a:t>
            </a:r>
            <a:r>
              <a:rPr lang="en" sz="2533" b="1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 = entropy fitur </a:t>
            </a:r>
            <a:r>
              <a:rPr lang="en" sz="2533" b="1" i="1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A</a:t>
            </a:r>
            <a:endParaRPr sz="2533" b="1">
              <a:solidFill>
                <a:schemeClr val="accent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>
              <a:lnSpc>
                <a:spcPct val="115000"/>
              </a:lnSpc>
            </a:pPr>
            <a:r>
              <a:rPr lang="en" sz="2533">
                <a:latin typeface="Candara"/>
                <a:ea typeface="Candara"/>
                <a:cs typeface="Candara"/>
                <a:sym typeface="Candara"/>
              </a:rPr>
              <a:t>|D</a:t>
            </a:r>
            <a:r>
              <a:rPr lang="en" sz="2533" baseline="-25000">
                <a:latin typeface="Candara"/>
                <a:ea typeface="Candara"/>
                <a:cs typeface="Candara"/>
                <a:sym typeface="Candara"/>
              </a:rPr>
              <a:t>j</a:t>
            </a:r>
            <a:r>
              <a:rPr lang="en" sz="2533">
                <a:latin typeface="Candara"/>
                <a:ea typeface="Candara"/>
                <a:cs typeface="Candara"/>
                <a:sym typeface="Candara"/>
              </a:rPr>
              <a:t>| = jumlah fitur dengan nilai </a:t>
            </a:r>
            <a:r>
              <a:rPr lang="en" sz="2533" i="1">
                <a:latin typeface="Candara"/>
                <a:ea typeface="Candara"/>
                <a:cs typeface="Candara"/>
                <a:sym typeface="Candara"/>
              </a:rPr>
              <a:t>j</a:t>
            </a:r>
            <a:endParaRPr sz="2533">
              <a:latin typeface="Candara"/>
              <a:ea typeface="Candara"/>
              <a:cs typeface="Candara"/>
              <a:sym typeface="Candara"/>
            </a:endParaRPr>
          </a:p>
          <a:p>
            <a:pPr>
              <a:lnSpc>
                <a:spcPct val="115000"/>
              </a:lnSpc>
            </a:pPr>
            <a:r>
              <a:rPr lang="en" sz="2533">
                <a:latin typeface="Candara"/>
                <a:ea typeface="Candara"/>
                <a:cs typeface="Candara"/>
                <a:sym typeface="Candara"/>
              </a:rPr>
              <a:t>|D| = jumlah subset data</a:t>
            </a:r>
            <a:endParaRPr sz="2533">
              <a:latin typeface="Candara"/>
              <a:ea typeface="Candara"/>
              <a:cs typeface="Candara"/>
              <a:sym typeface="Candara"/>
            </a:endParaRPr>
          </a:p>
          <a:p>
            <a:pPr>
              <a:lnSpc>
                <a:spcPct val="115000"/>
              </a:lnSpc>
              <a:spcBef>
                <a:spcPts val="1333"/>
              </a:spcBef>
              <a:spcAft>
                <a:spcPts val="1333"/>
              </a:spcAft>
            </a:pPr>
            <a:r>
              <a:rPr lang="en" sz="2533" b="1" i="1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Gain(A)</a:t>
            </a:r>
            <a:r>
              <a:rPr lang="en" sz="2533" b="1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 = IG atribut </a:t>
            </a:r>
            <a:r>
              <a:rPr lang="en" sz="2533" b="1" i="1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A</a:t>
            </a:r>
            <a:endParaRPr sz="2533" b="1">
              <a:solidFill>
                <a:schemeClr val="accen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1" y="1560168"/>
            <a:ext cx="4747092" cy="509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9026" y="1560168"/>
            <a:ext cx="6079775" cy="4562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60168"/>
            <a:ext cx="4715499" cy="509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300" y="1213601"/>
            <a:ext cx="6016267" cy="503353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C086513-BFB8-4834-87C9-C87F6FE669E1}"/>
              </a:ext>
            </a:extLst>
          </p:cNvPr>
          <p:cNvCxnSpPr>
            <a:cxnSpLocks/>
          </p:cNvCxnSpPr>
          <p:nvPr/>
        </p:nvCxnSpPr>
        <p:spPr>
          <a:xfrm flipV="1">
            <a:off x="5495235" y="2040837"/>
            <a:ext cx="1360556" cy="23391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89B4D38-E078-4697-8DF9-22A692CF1BAB}"/>
              </a:ext>
            </a:extLst>
          </p:cNvPr>
          <p:cNvSpPr txBox="1"/>
          <p:nvPr/>
        </p:nvSpPr>
        <p:spPr>
          <a:xfrm>
            <a:off x="6378713" y="2129183"/>
            <a:ext cx="3187084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>
                <a:solidFill>
                  <a:schemeClr val="accent1"/>
                </a:solidFill>
              </a:rPr>
              <a:t>Ada 14 baris yes dan no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C80035FF-1C1F-4D36-ADB0-E74C375BCD6C}"/>
              </a:ext>
            </a:extLst>
          </p:cNvPr>
          <p:cNvSpPr/>
          <p:nvPr/>
        </p:nvSpPr>
        <p:spPr>
          <a:xfrm>
            <a:off x="5018157" y="2288210"/>
            <a:ext cx="477079" cy="413467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60168"/>
            <a:ext cx="4715499" cy="509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300" y="1213601"/>
            <a:ext cx="6016267" cy="503353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39C47E3-7F94-49C4-A65C-194CE45614F0}"/>
              </a:ext>
            </a:extLst>
          </p:cNvPr>
          <p:cNvCxnSpPr/>
          <p:nvPr/>
        </p:nvCxnSpPr>
        <p:spPr>
          <a:xfrm flipV="1">
            <a:off x="4779617" y="1722783"/>
            <a:ext cx="2067339" cy="5654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A6EB6D-6BB8-4172-9A1D-F096BDD07C7F}"/>
              </a:ext>
            </a:extLst>
          </p:cNvPr>
          <p:cNvCxnSpPr>
            <a:cxnSpLocks/>
          </p:cNvCxnSpPr>
          <p:nvPr/>
        </p:nvCxnSpPr>
        <p:spPr>
          <a:xfrm flipV="1">
            <a:off x="4850297" y="1722783"/>
            <a:ext cx="1996660" cy="8393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DAD6CC-4C82-4F9F-9F75-F5705A912604}"/>
              </a:ext>
            </a:extLst>
          </p:cNvPr>
          <p:cNvCxnSpPr>
            <a:cxnSpLocks/>
          </p:cNvCxnSpPr>
          <p:nvPr/>
        </p:nvCxnSpPr>
        <p:spPr>
          <a:xfrm flipV="1">
            <a:off x="4850297" y="1722783"/>
            <a:ext cx="1996660" cy="21380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734612-E7FF-4289-9700-E2D8FF00087B}"/>
              </a:ext>
            </a:extLst>
          </p:cNvPr>
          <p:cNvCxnSpPr>
            <a:cxnSpLocks/>
          </p:cNvCxnSpPr>
          <p:nvPr/>
        </p:nvCxnSpPr>
        <p:spPr>
          <a:xfrm flipV="1">
            <a:off x="4850297" y="1722783"/>
            <a:ext cx="1996660" cy="27564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A25E7DA-1781-48B5-B4E5-636C5B230415}"/>
              </a:ext>
            </a:extLst>
          </p:cNvPr>
          <p:cNvCxnSpPr>
            <a:cxnSpLocks/>
          </p:cNvCxnSpPr>
          <p:nvPr/>
        </p:nvCxnSpPr>
        <p:spPr>
          <a:xfrm flipV="1">
            <a:off x="4850297" y="1722783"/>
            <a:ext cx="1996660" cy="47619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C042FF2-0DC7-4177-BBF3-64B1DDF7877B}"/>
              </a:ext>
            </a:extLst>
          </p:cNvPr>
          <p:cNvSpPr txBox="1"/>
          <p:nvPr/>
        </p:nvSpPr>
        <p:spPr>
          <a:xfrm>
            <a:off x="6546575" y="2083025"/>
            <a:ext cx="272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Ada 5 baris “no”</a:t>
            </a:r>
          </a:p>
        </p:txBody>
      </p:sp>
    </p:spTree>
    <p:extLst>
      <p:ext uri="{BB962C8B-B14F-4D97-AF65-F5344CB8AC3E}">
        <p14:creationId xmlns:p14="http://schemas.microsoft.com/office/powerpoint/2010/main" val="1988893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60168"/>
            <a:ext cx="4715499" cy="509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300" y="1213601"/>
            <a:ext cx="6016267" cy="503353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B9BF3A8-C114-427D-B7EA-9D5791C324C8}"/>
              </a:ext>
            </a:extLst>
          </p:cNvPr>
          <p:cNvCxnSpPr/>
          <p:nvPr/>
        </p:nvCxnSpPr>
        <p:spPr>
          <a:xfrm flipV="1">
            <a:off x="4806122" y="1705114"/>
            <a:ext cx="3737113" cy="121036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5C0B05-666B-485A-AB2E-A3D134B4B006}"/>
              </a:ext>
            </a:extLst>
          </p:cNvPr>
          <p:cNvCxnSpPr>
            <a:cxnSpLocks/>
          </p:cNvCxnSpPr>
          <p:nvPr/>
        </p:nvCxnSpPr>
        <p:spPr>
          <a:xfrm flipV="1">
            <a:off x="4806122" y="1705113"/>
            <a:ext cx="3737113" cy="155492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8836A0E-4046-4E52-B518-E78308D986E3}"/>
              </a:ext>
            </a:extLst>
          </p:cNvPr>
          <p:cNvCxnSpPr>
            <a:cxnSpLocks/>
          </p:cNvCxnSpPr>
          <p:nvPr/>
        </p:nvCxnSpPr>
        <p:spPr>
          <a:xfrm flipV="1">
            <a:off x="4806122" y="1705114"/>
            <a:ext cx="3737113" cy="189285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5B2768-62C0-4104-913D-6AA14486052F}"/>
              </a:ext>
            </a:extLst>
          </p:cNvPr>
          <p:cNvCxnSpPr>
            <a:cxnSpLocks/>
          </p:cNvCxnSpPr>
          <p:nvPr/>
        </p:nvCxnSpPr>
        <p:spPr>
          <a:xfrm flipV="1">
            <a:off x="4806122" y="1705114"/>
            <a:ext cx="3737113" cy="248257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01718A4-665B-4E3C-AF50-14C09E060ED6}"/>
              </a:ext>
            </a:extLst>
          </p:cNvPr>
          <p:cNvCxnSpPr>
            <a:cxnSpLocks/>
          </p:cNvCxnSpPr>
          <p:nvPr/>
        </p:nvCxnSpPr>
        <p:spPr>
          <a:xfrm flipV="1">
            <a:off x="4806122" y="1705113"/>
            <a:ext cx="3737113" cy="314518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7B021F6-64A5-4317-975D-E473C12BE035}"/>
              </a:ext>
            </a:extLst>
          </p:cNvPr>
          <p:cNvCxnSpPr>
            <a:cxnSpLocks/>
          </p:cNvCxnSpPr>
          <p:nvPr/>
        </p:nvCxnSpPr>
        <p:spPr>
          <a:xfrm flipV="1">
            <a:off x="4806122" y="1705113"/>
            <a:ext cx="3737113" cy="351624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759C978-0C8D-488F-BF45-76EF4CD60C4E}"/>
              </a:ext>
            </a:extLst>
          </p:cNvPr>
          <p:cNvCxnSpPr>
            <a:cxnSpLocks/>
          </p:cNvCxnSpPr>
          <p:nvPr/>
        </p:nvCxnSpPr>
        <p:spPr>
          <a:xfrm flipV="1">
            <a:off x="4806122" y="1705114"/>
            <a:ext cx="3737113" cy="379895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0B066AA-3BEA-4641-8A44-AE4E60985C5B}"/>
              </a:ext>
            </a:extLst>
          </p:cNvPr>
          <p:cNvCxnSpPr>
            <a:cxnSpLocks/>
          </p:cNvCxnSpPr>
          <p:nvPr/>
        </p:nvCxnSpPr>
        <p:spPr>
          <a:xfrm flipV="1">
            <a:off x="4806122" y="1705114"/>
            <a:ext cx="3737113" cy="415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F007090-64B3-40DA-81BB-20B5D0FD8E09}"/>
              </a:ext>
            </a:extLst>
          </p:cNvPr>
          <p:cNvCxnSpPr>
            <a:cxnSpLocks/>
          </p:cNvCxnSpPr>
          <p:nvPr/>
        </p:nvCxnSpPr>
        <p:spPr>
          <a:xfrm flipV="1">
            <a:off x="4894470" y="1705114"/>
            <a:ext cx="3648765" cy="472660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D64E797-FE37-489D-A84F-E08DAC4B5F6C}"/>
              </a:ext>
            </a:extLst>
          </p:cNvPr>
          <p:cNvSpPr txBox="1"/>
          <p:nvPr/>
        </p:nvSpPr>
        <p:spPr>
          <a:xfrm>
            <a:off x="8116890" y="2135890"/>
            <a:ext cx="2809460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>
                <a:solidFill>
                  <a:srgbClr val="00B050"/>
                </a:solidFill>
              </a:rPr>
              <a:t>Dan </a:t>
            </a:r>
            <a:r>
              <a:rPr lang="en-US" sz="1467" dirty="0" err="1">
                <a:solidFill>
                  <a:srgbClr val="00B050"/>
                </a:solidFill>
              </a:rPr>
              <a:t>ada</a:t>
            </a:r>
            <a:r>
              <a:rPr lang="en-US" sz="1467" dirty="0">
                <a:solidFill>
                  <a:srgbClr val="00B050"/>
                </a:solidFill>
              </a:rPr>
              <a:t> 9 baris “yes”</a:t>
            </a:r>
          </a:p>
        </p:txBody>
      </p:sp>
    </p:spTree>
    <p:extLst>
      <p:ext uri="{BB962C8B-B14F-4D97-AF65-F5344CB8AC3E}">
        <p14:creationId xmlns:p14="http://schemas.microsoft.com/office/powerpoint/2010/main" val="3642671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60168"/>
            <a:ext cx="4715499" cy="509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300" y="1213601"/>
            <a:ext cx="6016267" cy="503353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C086513-BFB8-4834-87C9-C87F6FE669E1}"/>
              </a:ext>
            </a:extLst>
          </p:cNvPr>
          <p:cNvCxnSpPr>
            <a:cxnSpLocks/>
          </p:cNvCxnSpPr>
          <p:nvPr/>
        </p:nvCxnSpPr>
        <p:spPr>
          <a:xfrm flipV="1">
            <a:off x="5495235" y="2040837"/>
            <a:ext cx="1360556" cy="23391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89B4D38-E078-4697-8DF9-22A692CF1BAB}"/>
              </a:ext>
            </a:extLst>
          </p:cNvPr>
          <p:cNvSpPr txBox="1"/>
          <p:nvPr/>
        </p:nvSpPr>
        <p:spPr>
          <a:xfrm>
            <a:off x="6378713" y="2129183"/>
            <a:ext cx="3187084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>
                <a:solidFill>
                  <a:schemeClr val="accent1"/>
                </a:solidFill>
              </a:rPr>
              <a:t>Ada 14 baris yes dan no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C80035FF-1C1F-4D36-ADB0-E74C375BCD6C}"/>
              </a:ext>
            </a:extLst>
          </p:cNvPr>
          <p:cNvSpPr/>
          <p:nvPr/>
        </p:nvSpPr>
        <p:spPr>
          <a:xfrm>
            <a:off x="5018157" y="2288210"/>
            <a:ext cx="477079" cy="413467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CDF298-2834-4C1B-ACEF-53BAF343C1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712" y="2339645"/>
            <a:ext cx="5783001" cy="19846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50B948-2743-4220-8A77-D5CAB04A8C6B}"/>
              </a:ext>
            </a:extLst>
          </p:cNvPr>
          <p:cNvSpPr txBox="1"/>
          <p:nvPr/>
        </p:nvSpPr>
        <p:spPr>
          <a:xfrm>
            <a:off x="5822122" y="716142"/>
            <a:ext cx="6433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 </a:t>
            </a:r>
            <a:r>
              <a:rPr lang="en-US" sz="2400" dirty="0" err="1"/>
              <a:t>kalkulator</a:t>
            </a:r>
            <a:r>
              <a:rPr lang="en-US" sz="2400" dirty="0"/>
              <a:t> google </a:t>
            </a:r>
            <a:r>
              <a:rPr lang="en-US" sz="2400" dirty="0" err="1"/>
              <a:t>ngetiknya</a:t>
            </a:r>
            <a:r>
              <a:rPr lang="en-US" sz="2400" dirty="0"/>
              <a:t> = </a:t>
            </a:r>
          </a:p>
          <a:p>
            <a:r>
              <a:rPr lang="en-US" sz="2400" dirty="0"/>
              <a:t>- (5/14 * log2(5/14)) - (9/14 * log2(9/14)) = 0.94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B7A477-04C1-4BFF-BE25-34506392E3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4814" y="2181265"/>
            <a:ext cx="5331585" cy="452767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58AD98-496E-48B5-9277-B49E7CF137A9}"/>
              </a:ext>
            </a:extLst>
          </p:cNvPr>
          <p:cNvCxnSpPr/>
          <p:nvPr/>
        </p:nvCxnSpPr>
        <p:spPr>
          <a:xfrm flipH="1">
            <a:off x="5751444" y="1356967"/>
            <a:ext cx="4867965" cy="25215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A17CAC-2C34-474B-BAB0-14B74C820AAD}"/>
              </a:ext>
            </a:extLst>
          </p:cNvPr>
          <p:cNvCxnSpPr>
            <a:cxnSpLocks/>
          </p:cNvCxnSpPr>
          <p:nvPr/>
        </p:nvCxnSpPr>
        <p:spPr>
          <a:xfrm flipH="1">
            <a:off x="10425044" y="1356967"/>
            <a:ext cx="194365" cy="50659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527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60168"/>
            <a:ext cx="4715499" cy="509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300" y="1213601"/>
            <a:ext cx="6016267" cy="503353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75964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60168"/>
            <a:ext cx="4715499" cy="509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300" y="1213601"/>
            <a:ext cx="6016267" cy="503353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How to build a DT?</a:t>
            </a:r>
            <a:endParaRPr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45BB57D-1175-4BCC-8560-C09A2C2C0A65}"/>
              </a:ext>
            </a:extLst>
          </p:cNvPr>
          <p:cNvCxnSpPr>
            <a:cxnSpLocks/>
          </p:cNvCxnSpPr>
          <p:nvPr/>
        </p:nvCxnSpPr>
        <p:spPr>
          <a:xfrm flipH="1" flipV="1">
            <a:off x="1077845" y="2261705"/>
            <a:ext cx="4602920" cy="1095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23BB8EA-802E-4B61-95E4-F7BC71EDAE9A}"/>
              </a:ext>
            </a:extLst>
          </p:cNvPr>
          <p:cNvCxnSpPr>
            <a:cxnSpLocks/>
          </p:cNvCxnSpPr>
          <p:nvPr/>
        </p:nvCxnSpPr>
        <p:spPr>
          <a:xfrm flipH="1" flipV="1">
            <a:off x="1077845" y="2606262"/>
            <a:ext cx="4602920" cy="750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B50FA5F-91F3-434D-906B-82EF687E99F0}"/>
              </a:ext>
            </a:extLst>
          </p:cNvPr>
          <p:cNvCxnSpPr>
            <a:cxnSpLocks/>
          </p:cNvCxnSpPr>
          <p:nvPr/>
        </p:nvCxnSpPr>
        <p:spPr>
          <a:xfrm flipH="1">
            <a:off x="1077845" y="3357218"/>
            <a:ext cx="4602920" cy="1139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24C2E54-9D97-4A83-A4C9-729FFEDB98FF}"/>
              </a:ext>
            </a:extLst>
          </p:cNvPr>
          <p:cNvCxnSpPr>
            <a:cxnSpLocks/>
          </p:cNvCxnSpPr>
          <p:nvPr/>
        </p:nvCxnSpPr>
        <p:spPr>
          <a:xfrm flipH="1">
            <a:off x="1077845" y="3357217"/>
            <a:ext cx="4602920" cy="1457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FF2209A-6099-44BD-A710-BBD709A37565}"/>
              </a:ext>
            </a:extLst>
          </p:cNvPr>
          <p:cNvCxnSpPr>
            <a:cxnSpLocks/>
          </p:cNvCxnSpPr>
          <p:nvPr/>
        </p:nvCxnSpPr>
        <p:spPr>
          <a:xfrm flipH="1">
            <a:off x="1077845" y="3357218"/>
            <a:ext cx="4602920" cy="2085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BB40BD5-3E8D-4FCC-A022-0BD20769859E}"/>
              </a:ext>
            </a:extLst>
          </p:cNvPr>
          <p:cNvCxnSpPr>
            <a:cxnSpLocks/>
          </p:cNvCxnSpPr>
          <p:nvPr/>
        </p:nvCxnSpPr>
        <p:spPr>
          <a:xfrm>
            <a:off x="6034158" y="3429002"/>
            <a:ext cx="556591" cy="24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86F7C99-8A40-4B53-AAFD-E1D575BC9A3C}"/>
              </a:ext>
            </a:extLst>
          </p:cNvPr>
          <p:cNvCxnSpPr>
            <a:cxnSpLocks/>
          </p:cNvCxnSpPr>
          <p:nvPr/>
        </p:nvCxnSpPr>
        <p:spPr>
          <a:xfrm>
            <a:off x="6096001" y="3428999"/>
            <a:ext cx="1148521" cy="246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9CF2470-9C09-4281-9813-A36EBCF64D90}"/>
              </a:ext>
            </a:extLst>
          </p:cNvPr>
          <p:cNvCxnSpPr>
            <a:cxnSpLocks/>
          </p:cNvCxnSpPr>
          <p:nvPr/>
        </p:nvCxnSpPr>
        <p:spPr>
          <a:xfrm>
            <a:off x="6034158" y="3428999"/>
            <a:ext cx="1590260" cy="246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E055337-83CE-4599-85E8-603756813134}"/>
              </a:ext>
            </a:extLst>
          </p:cNvPr>
          <p:cNvSpPr txBox="1"/>
          <p:nvPr/>
        </p:nvSpPr>
        <p:spPr>
          <a:xfrm>
            <a:off x="1625600" y="1722783"/>
            <a:ext cx="2447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Age &lt;= 30</a:t>
            </a:r>
          </a:p>
          <a:p>
            <a:r>
              <a:rPr lang="en-US" sz="1600" dirty="0"/>
              <a:t>Dari 14 baris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31219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60168"/>
            <a:ext cx="4715499" cy="509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300" y="1213601"/>
            <a:ext cx="6016267" cy="503353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How to build a DT?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210DCB-5095-4C2E-A53D-89A2EF3314A3}"/>
              </a:ext>
            </a:extLst>
          </p:cNvPr>
          <p:cNvSpPr txBox="1"/>
          <p:nvPr/>
        </p:nvSpPr>
        <p:spPr>
          <a:xfrm>
            <a:off x="971828" y="1644797"/>
            <a:ext cx="3207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Age &lt;= 30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Dan buy computer = “no” = 3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2BD7BD4-0E80-447E-8AAA-45F5D90FB9F7}"/>
              </a:ext>
            </a:extLst>
          </p:cNvPr>
          <p:cNvCxnSpPr>
            <a:cxnSpLocks/>
          </p:cNvCxnSpPr>
          <p:nvPr/>
        </p:nvCxnSpPr>
        <p:spPr>
          <a:xfrm>
            <a:off x="1095514" y="2252869"/>
            <a:ext cx="3207025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B3EF38-BBE3-4319-8F2B-7113F7ECD5E6}"/>
              </a:ext>
            </a:extLst>
          </p:cNvPr>
          <p:cNvCxnSpPr>
            <a:cxnSpLocks/>
          </p:cNvCxnSpPr>
          <p:nvPr/>
        </p:nvCxnSpPr>
        <p:spPr>
          <a:xfrm>
            <a:off x="1095514" y="2562087"/>
            <a:ext cx="3207025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7B73DF-3438-4173-BC4C-F6B7A876BA9D}"/>
              </a:ext>
            </a:extLst>
          </p:cNvPr>
          <p:cNvCxnSpPr>
            <a:cxnSpLocks/>
          </p:cNvCxnSpPr>
          <p:nvPr/>
        </p:nvCxnSpPr>
        <p:spPr>
          <a:xfrm>
            <a:off x="1095514" y="4496904"/>
            <a:ext cx="3207025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4547B7D-08FA-49FA-BEA5-387EA8E2C2A5}"/>
              </a:ext>
            </a:extLst>
          </p:cNvPr>
          <p:cNvCxnSpPr>
            <a:cxnSpLocks/>
          </p:cNvCxnSpPr>
          <p:nvPr/>
        </p:nvCxnSpPr>
        <p:spPr>
          <a:xfrm>
            <a:off x="1095514" y="4832625"/>
            <a:ext cx="3207025" cy="0"/>
          </a:xfrm>
          <a:prstGeom prst="line">
            <a:avLst/>
          </a:prstGeom>
          <a:ln w="95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8110708-CE98-475A-ADD1-8B0948D487ED}"/>
              </a:ext>
            </a:extLst>
          </p:cNvPr>
          <p:cNvCxnSpPr>
            <a:cxnSpLocks/>
          </p:cNvCxnSpPr>
          <p:nvPr/>
        </p:nvCxnSpPr>
        <p:spPr>
          <a:xfrm>
            <a:off x="1095514" y="5486400"/>
            <a:ext cx="3207025" cy="0"/>
          </a:xfrm>
          <a:prstGeom prst="line">
            <a:avLst/>
          </a:prstGeom>
          <a:ln w="95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9DAC26-CF39-477E-ABE9-6859162A1CA2}"/>
              </a:ext>
            </a:extLst>
          </p:cNvPr>
          <p:cNvCxnSpPr/>
          <p:nvPr/>
        </p:nvCxnSpPr>
        <p:spPr>
          <a:xfrm>
            <a:off x="4302539" y="2252870"/>
            <a:ext cx="2244035" cy="1104348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C7C04A4-231A-427F-A59B-95EBF72B16D6}"/>
              </a:ext>
            </a:extLst>
          </p:cNvPr>
          <p:cNvCxnSpPr>
            <a:cxnSpLocks/>
          </p:cNvCxnSpPr>
          <p:nvPr/>
        </p:nvCxnSpPr>
        <p:spPr>
          <a:xfrm>
            <a:off x="4302539" y="2562087"/>
            <a:ext cx="2164523" cy="79513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588D543-6D16-40EF-B7BD-FB259160821A}"/>
              </a:ext>
            </a:extLst>
          </p:cNvPr>
          <p:cNvCxnSpPr>
            <a:cxnSpLocks/>
          </p:cNvCxnSpPr>
          <p:nvPr/>
        </p:nvCxnSpPr>
        <p:spPr>
          <a:xfrm flipV="1">
            <a:off x="4302539" y="3357217"/>
            <a:ext cx="2244035" cy="1139688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AD1B84C-4E0E-45D5-9EF9-42282955863D}"/>
              </a:ext>
            </a:extLst>
          </p:cNvPr>
          <p:cNvCxnSpPr>
            <a:cxnSpLocks/>
          </p:cNvCxnSpPr>
          <p:nvPr/>
        </p:nvCxnSpPr>
        <p:spPr>
          <a:xfrm flipV="1">
            <a:off x="4302539" y="3357217"/>
            <a:ext cx="3339548" cy="1475408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4F1805-4B52-4AE8-8E49-331E636AB44E}"/>
              </a:ext>
            </a:extLst>
          </p:cNvPr>
          <p:cNvCxnSpPr>
            <a:cxnSpLocks/>
          </p:cNvCxnSpPr>
          <p:nvPr/>
        </p:nvCxnSpPr>
        <p:spPr>
          <a:xfrm flipV="1">
            <a:off x="4302539" y="3357217"/>
            <a:ext cx="3339548" cy="2129184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0DEFB08-EE60-4B2D-B783-D501AB0265A7}"/>
              </a:ext>
            </a:extLst>
          </p:cNvPr>
          <p:cNvSpPr txBox="1"/>
          <p:nvPr/>
        </p:nvSpPr>
        <p:spPr>
          <a:xfrm>
            <a:off x="993913" y="4873680"/>
            <a:ext cx="3207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Age &lt;= 30</a:t>
            </a:r>
          </a:p>
          <a:p>
            <a:pPr algn="ctr"/>
            <a:r>
              <a:rPr lang="en-US" sz="1400" dirty="0">
                <a:solidFill>
                  <a:srgbClr val="00B050"/>
                </a:solidFill>
              </a:rPr>
              <a:t>Dan buy computer = “yes” = 2</a:t>
            </a:r>
          </a:p>
        </p:txBody>
      </p:sp>
    </p:spTree>
    <p:extLst>
      <p:ext uri="{BB962C8B-B14F-4D97-AF65-F5344CB8AC3E}">
        <p14:creationId xmlns:p14="http://schemas.microsoft.com/office/powerpoint/2010/main" val="2716063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60168"/>
            <a:ext cx="4715499" cy="509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300" y="1213601"/>
            <a:ext cx="6016267" cy="503353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How to build a DT?</a:t>
            </a:r>
            <a:endParaRPr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45BB57D-1175-4BCC-8560-C09A2C2C0A65}"/>
              </a:ext>
            </a:extLst>
          </p:cNvPr>
          <p:cNvCxnSpPr>
            <a:cxnSpLocks/>
          </p:cNvCxnSpPr>
          <p:nvPr/>
        </p:nvCxnSpPr>
        <p:spPr>
          <a:xfrm flipH="1">
            <a:off x="1166192" y="3391233"/>
            <a:ext cx="7933635" cy="787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23BB8EA-802E-4B61-95E4-F7BC71EDAE9A}"/>
              </a:ext>
            </a:extLst>
          </p:cNvPr>
          <p:cNvCxnSpPr>
            <a:cxnSpLocks/>
          </p:cNvCxnSpPr>
          <p:nvPr/>
        </p:nvCxnSpPr>
        <p:spPr>
          <a:xfrm flipH="1" flipV="1">
            <a:off x="1077846" y="2877259"/>
            <a:ext cx="8021981" cy="479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B50FA5F-91F3-434D-906B-82EF687E99F0}"/>
              </a:ext>
            </a:extLst>
          </p:cNvPr>
          <p:cNvCxnSpPr>
            <a:cxnSpLocks/>
          </p:cNvCxnSpPr>
          <p:nvPr/>
        </p:nvCxnSpPr>
        <p:spPr>
          <a:xfrm flipH="1">
            <a:off x="1077846" y="3391232"/>
            <a:ext cx="8021981" cy="2457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FF2209A-6099-44BD-A710-BBD709A37565}"/>
              </a:ext>
            </a:extLst>
          </p:cNvPr>
          <p:cNvCxnSpPr>
            <a:cxnSpLocks/>
          </p:cNvCxnSpPr>
          <p:nvPr/>
        </p:nvCxnSpPr>
        <p:spPr>
          <a:xfrm flipH="1">
            <a:off x="1077846" y="3391232"/>
            <a:ext cx="8021981" cy="2731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BB40BD5-3E8D-4FCC-A022-0BD20769859E}"/>
              </a:ext>
            </a:extLst>
          </p:cNvPr>
          <p:cNvCxnSpPr>
            <a:cxnSpLocks/>
          </p:cNvCxnSpPr>
          <p:nvPr/>
        </p:nvCxnSpPr>
        <p:spPr>
          <a:xfrm>
            <a:off x="9390311" y="3357218"/>
            <a:ext cx="1220263" cy="373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9CF2470-9C09-4281-9813-A36EBCF64D90}"/>
              </a:ext>
            </a:extLst>
          </p:cNvPr>
          <p:cNvCxnSpPr>
            <a:cxnSpLocks/>
          </p:cNvCxnSpPr>
          <p:nvPr/>
        </p:nvCxnSpPr>
        <p:spPr>
          <a:xfrm>
            <a:off x="9390309" y="3357218"/>
            <a:ext cx="592995" cy="373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E055337-83CE-4599-85E8-603756813134}"/>
              </a:ext>
            </a:extLst>
          </p:cNvPr>
          <p:cNvSpPr txBox="1"/>
          <p:nvPr/>
        </p:nvSpPr>
        <p:spPr>
          <a:xfrm>
            <a:off x="1422400" y="2204933"/>
            <a:ext cx="2447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Age 31 .. 40</a:t>
            </a:r>
          </a:p>
          <a:p>
            <a:r>
              <a:rPr lang="en-US" sz="1600" dirty="0"/>
              <a:t>Dari 14 baris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05319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60168"/>
            <a:ext cx="4715499" cy="509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300" y="1213601"/>
            <a:ext cx="6016267" cy="503353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How to build a DT?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210DCB-5095-4C2E-A53D-89A2EF3314A3}"/>
              </a:ext>
            </a:extLst>
          </p:cNvPr>
          <p:cNvSpPr txBox="1"/>
          <p:nvPr/>
        </p:nvSpPr>
        <p:spPr>
          <a:xfrm>
            <a:off x="1016002" y="3150429"/>
            <a:ext cx="3207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Age 31 .. 40 </a:t>
            </a:r>
          </a:p>
          <a:p>
            <a:pPr algn="ctr"/>
            <a:r>
              <a:rPr lang="en-US" sz="1400" dirty="0">
                <a:solidFill>
                  <a:srgbClr val="00B050"/>
                </a:solidFill>
              </a:rPr>
              <a:t>Dan buy computer = “yes” = </a:t>
            </a:r>
            <a:r>
              <a:rPr lang="en-US" sz="1400" b="1" dirty="0">
                <a:solidFill>
                  <a:srgbClr val="00B050"/>
                </a:solidFill>
              </a:rPr>
              <a:t>4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2BD7BD4-0E80-447E-8AAA-45F5D90FB9F7}"/>
              </a:ext>
            </a:extLst>
          </p:cNvPr>
          <p:cNvCxnSpPr>
            <a:cxnSpLocks/>
          </p:cNvCxnSpPr>
          <p:nvPr/>
        </p:nvCxnSpPr>
        <p:spPr>
          <a:xfrm>
            <a:off x="1095514" y="2862469"/>
            <a:ext cx="3207025" cy="0"/>
          </a:xfrm>
          <a:prstGeom prst="line">
            <a:avLst/>
          </a:prstGeom>
          <a:ln w="95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B3EF38-BBE3-4319-8F2B-7113F7ECD5E6}"/>
              </a:ext>
            </a:extLst>
          </p:cNvPr>
          <p:cNvCxnSpPr>
            <a:cxnSpLocks/>
          </p:cNvCxnSpPr>
          <p:nvPr/>
        </p:nvCxnSpPr>
        <p:spPr>
          <a:xfrm>
            <a:off x="1095514" y="4152348"/>
            <a:ext cx="3207025" cy="0"/>
          </a:xfrm>
          <a:prstGeom prst="line">
            <a:avLst/>
          </a:prstGeom>
          <a:ln w="95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7B73DF-3438-4173-BC4C-F6B7A876BA9D}"/>
              </a:ext>
            </a:extLst>
          </p:cNvPr>
          <p:cNvCxnSpPr>
            <a:cxnSpLocks/>
          </p:cNvCxnSpPr>
          <p:nvPr/>
        </p:nvCxnSpPr>
        <p:spPr>
          <a:xfrm>
            <a:off x="1095514" y="5795617"/>
            <a:ext cx="3207025" cy="0"/>
          </a:xfrm>
          <a:prstGeom prst="line">
            <a:avLst/>
          </a:prstGeom>
          <a:ln w="95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4547B7D-08FA-49FA-BEA5-387EA8E2C2A5}"/>
              </a:ext>
            </a:extLst>
          </p:cNvPr>
          <p:cNvCxnSpPr>
            <a:cxnSpLocks/>
          </p:cNvCxnSpPr>
          <p:nvPr/>
        </p:nvCxnSpPr>
        <p:spPr>
          <a:xfrm>
            <a:off x="1095514" y="6104833"/>
            <a:ext cx="3207025" cy="0"/>
          </a:xfrm>
          <a:prstGeom prst="line">
            <a:avLst/>
          </a:prstGeom>
          <a:ln w="95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9DAC26-CF39-477E-ABE9-6859162A1CA2}"/>
              </a:ext>
            </a:extLst>
          </p:cNvPr>
          <p:cNvCxnSpPr>
            <a:cxnSpLocks/>
          </p:cNvCxnSpPr>
          <p:nvPr/>
        </p:nvCxnSpPr>
        <p:spPr>
          <a:xfrm flipV="1">
            <a:off x="4302539" y="3427428"/>
            <a:ext cx="5636592" cy="724920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C7C04A4-231A-427F-A59B-95EBF72B16D6}"/>
              </a:ext>
            </a:extLst>
          </p:cNvPr>
          <p:cNvCxnSpPr>
            <a:cxnSpLocks/>
          </p:cNvCxnSpPr>
          <p:nvPr/>
        </p:nvCxnSpPr>
        <p:spPr>
          <a:xfrm>
            <a:off x="4302539" y="2862470"/>
            <a:ext cx="5636592" cy="564959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588D543-6D16-40EF-B7BD-FB259160821A}"/>
              </a:ext>
            </a:extLst>
          </p:cNvPr>
          <p:cNvCxnSpPr>
            <a:cxnSpLocks/>
          </p:cNvCxnSpPr>
          <p:nvPr/>
        </p:nvCxnSpPr>
        <p:spPr>
          <a:xfrm flipV="1">
            <a:off x="4302539" y="3427430"/>
            <a:ext cx="5636592" cy="2368188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4F1805-4B52-4AE8-8E49-331E636AB44E}"/>
              </a:ext>
            </a:extLst>
          </p:cNvPr>
          <p:cNvCxnSpPr>
            <a:cxnSpLocks/>
          </p:cNvCxnSpPr>
          <p:nvPr/>
        </p:nvCxnSpPr>
        <p:spPr>
          <a:xfrm flipV="1">
            <a:off x="4302539" y="3427428"/>
            <a:ext cx="5591171" cy="2677405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23A5D0F-94B1-4FD3-BF85-77ECDE5C4FE2}"/>
              </a:ext>
            </a:extLst>
          </p:cNvPr>
          <p:cNvSpPr txBox="1"/>
          <p:nvPr/>
        </p:nvSpPr>
        <p:spPr>
          <a:xfrm>
            <a:off x="8671340" y="2187346"/>
            <a:ext cx="3207025" cy="912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Karena ga </a:t>
            </a:r>
            <a:r>
              <a:rPr lang="en-US" sz="1333" dirty="0" err="1"/>
              <a:t>ada</a:t>
            </a:r>
            <a:r>
              <a:rPr lang="en-US" sz="1333" dirty="0"/>
              <a:t> Age 31..40</a:t>
            </a:r>
          </a:p>
          <a:p>
            <a:pPr algn="ctr"/>
            <a:r>
              <a:rPr lang="en-US" sz="1333" dirty="0"/>
              <a:t>Yang buy computer = “no”</a:t>
            </a:r>
          </a:p>
          <a:p>
            <a:pPr algn="ctr"/>
            <a:r>
              <a:rPr lang="en-US" sz="1333" dirty="0" err="1"/>
              <a:t>Maka</a:t>
            </a:r>
            <a:r>
              <a:rPr lang="en-US" sz="1333" dirty="0"/>
              <a:t> ga </a:t>
            </a:r>
            <a:r>
              <a:rPr lang="en-US" sz="1333" dirty="0" err="1"/>
              <a:t>dimasukin</a:t>
            </a:r>
            <a:endParaRPr lang="en-US" sz="1333" dirty="0"/>
          </a:p>
          <a:p>
            <a:pPr algn="ctr"/>
            <a:r>
              <a:rPr lang="en-US" sz="1333" dirty="0"/>
              <a:t>Yang </a:t>
            </a:r>
            <a:r>
              <a:rPr lang="en-US" sz="1333" dirty="0" err="1"/>
              <a:t>dimasukin</a:t>
            </a:r>
            <a:r>
              <a:rPr lang="en-US" sz="1333" dirty="0"/>
              <a:t> </a:t>
            </a:r>
            <a:r>
              <a:rPr lang="en-US" sz="1333" dirty="0" err="1"/>
              <a:t>cuman</a:t>
            </a:r>
            <a:r>
              <a:rPr lang="en-US" sz="1333" dirty="0"/>
              <a:t> </a:t>
            </a:r>
            <a:r>
              <a:rPr lang="en-US" sz="1333" dirty="0" err="1"/>
              <a:t>yg</a:t>
            </a:r>
            <a:r>
              <a:rPr lang="en-US" sz="1333" dirty="0"/>
              <a:t> yes </a:t>
            </a:r>
            <a:r>
              <a:rPr lang="en-US" sz="1333" dirty="0" err="1"/>
              <a:t>doang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2537322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60168"/>
            <a:ext cx="4715499" cy="509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300" y="1213601"/>
            <a:ext cx="6016267" cy="503353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How to build a DT?</a:t>
            </a:r>
            <a:endParaRPr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45BB57D-1175-4BCC-8560-C09A2C2C0A65}"/>
              </a:ext>
            </a:extLst>
          </p:cNvPr>
          <p:cNvCxnSpPr>
            <a:cxnSpLocks/>
          </p:cNvCxnSpPr>
          <p:nvPr/>
        </p:nvCxnSpPr>
        <p:spPr>
          <a:xfrm flipH="1" flipV="1">
            <a:off x="1007165" y="3525079"/>
            <a:ext cx="5539408" cy="777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23BB8EA-802E-4B61-95E4-F7BC71EDAE9A}"/>
              </a:ext>
            </a:extLst>
          </p:cNvPr>
          <p:cNvCxnSpPr>
            <a:cxnSpLocks/>
          </p:cNvCxnSpPr>
          <p:nvPr/>
        </p:nvCxnSpPr>
        <p:spPr>
          <a:xfrm flipH="1" flipV="1">
            <a:off x="1077845" y="3207028"/>
            <a:ext cx="5468728" cy="1095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B50FA5F-91F3-434D-906B-82EF687E99F0}"/>
              </a:ext>
            </a:extLst>
          </p:cNvPr>
          <p:cNvCxnSpPr>
            <a:cxnSpLocks/>
          </p:cNvCxnSpPr>
          <p:nvPr/>
        </p:nvCxnSpPr>
        <p:spPr>
          <a:xfrm flipH="1" flipV="1">
            <a:off x="1007165" y="3869635"/>
            <a:ext cx="5539408" cy="432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FF2209A-6099-44BD-A710-BBD709A37565}"/>
              </a:ext>
            </a:extLst>
          </p:cNvPr>
          <p:cNvCxnSpPr>
            <a:cxnSpLocks/>
          </p:cNvCxnSpPr>
          <p:nvPr/>
        </p:nvCxnSpPr>
        <p:spPr>
          <a:xfrm flipH="1">
            <a:off x="1007165" y="4302539"/>
            <a:ext cx="5539408" cy="830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BB40BD5-3E8D-4FCC-A022-0BD20769859E}"/>
              </a:ext>
            </a:extLst>
          </p:cNvPr>
          <p:cNvCxnSpPr>
            <a:cxnSpLocks/>
          </p:cNvCxnSpPr>
          <p:nvPr/>
        </p:nvCxnSpPr>
        <p:spPr>
          <a:xfrm>
            <a:off x="6820452" y="4302540"/>
            <a:ext cx="1581427" cy="318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9CF2470-9C09-4281-9813-A36EBCF64D90}"/>
              </a:ext>
            </a:extLst>
          </p:cNvPr>
          <p:cNvCxnSpPr>
            <a:cxnSpLocks/>
          </p:cNvCxnSpPr>
          <p:nvPr/>
        </p:nvCxnSpPr>
        <p:spPr>
          <a:xfrm>
            <a:off x="6820452" y="4302540"/>
            <a:ext cx="574261" cy="318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E055337-83CE-4599-85E8-603756813134}"/>
              </a:ext>
            </a:extLst>
          </p:cNvPr>
          <p:cNvSpPr txBox="1"/>
          <p:nvPr/>
        </p:nvSpPr>
        <p:spPr>
          <a:xfrm>
            <a:off x="1422400" y="2204933"/>
            <a:ext cx="2447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Age &gt; 40</a:t>
            </a:r>
          </a:p>
          <a:p>
            <a:r>
              <a:rPr lang="en-US" sz="1600" dirty="0"/>
              <a:t>Dari 14 baris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b="1" dirty="0"/>
              <a:t>5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66D1D2-E7A7-463B-BBBE-9719CDA90613}"/>
              </a:ext>
            </a:extLst>
          </p:cNvPr>
          <p:cNvCxnSpPr>
            <a:cxnSpLocks/>
          </p:cNvCxnSpPr>
          <p:nvPr/>
        </p:nvCxnSpPr>
        <p:spPr>
          <a:xfrm flipH="1">
            <a:off x="1077845" y="4302540"/>
            <a:ext cx="5468728" cy="2138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791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60168"/>
            <a:ext cx="4715499" cy="509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300" y="1213601"/>
            <a:ext cx="6016267" cy="503353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How to build a DT?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210DCB-5095-4C2E-A53D-89A2EF3314A3}"/>
              </a:ext>
            </a:extLst>
          </p:cNvPr>
          <p:cNvSpPr txBox="1"/>
          <p:nvPr/>
        </p:nvSpPr>
        <p:spPr>
          <a:xfrm>
            <a:off x="1044713" y="2393229"/>
            <a:ext cx="3207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Age &gt; 40</a:t>
            </a:r>
          </a:p>
          <a:p>
            <a:pPr algn="ctr"/>
            <a:r>
              <a:rPr lang="en-US" sz="1400" dirty="0">
                <a:solidFill>
                  <a:srgbClr val="00B050"/>
                </a:solidFill>
              </a:rPr>
              <a:t>Dan buy computer = “yes” = 3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2BD7BD4-0E80-447E-8AAA-45F5D90FB9F7}"/>
              </a:ext>
            </a:extLst>
          </p:cNvPr>
          <p:cNvCxnSpPr>
            <a:cxnSpLocks/>
          </p:cNvCxnSpPr>
          <p:nvPr/>
        </p:nvCxnSpPr>
        <p:spPr>
          <a:xfrm>
            <a:off x="971828" y="3860800"/>
            <a:ext cx="3207025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B3EF38-BBE3-4319-8F2B-7113F7ECD5E6}"/>
              </a:ext>
            </a:extLst>
          </p:cNvPr>
          <p:cNvCxnSpPr>
            <a:cxnSpLocks/>
          </p:cNvCxnSpPr>
          <p:nvPr/>
        </p:nvCxnSpPr>
        <p:spPr>
          <a:xfrm>
            <a:off x="993913" y="3233531"/>
            <a:ext cx="3207025" cy="0"/>
          </a:xfrm>
          <a:prstGeom prst="line">
            <a:avLst/>
          </a:prstGeom>
          <a:ln w="95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7B73DF-3438-4173-BC4C-F6B7A876BA9D}"/>
              </a:ext>
            </a:extLst>
          </p:cNvPr>
          <p:cNvCxnSpPr>
            <a:cxnSpLocks/>
          </p:cNvCxnSpPr>
          <p:nvPr/>
        </p:nvCxnSpPr>
        <p:spPr>
          <a:xfrm>
            <a:off x="971826" y="3560417"/>
            <a:ext cx="3207025" cy="0"/>
          </a:xfrm>
          <a:prstGeom prst="line">
            <a:avLst/>
          </a:prstGeom>
          <a:ln w="95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4547B7D-08FA-49FA-BEA5-387EA8E2C2A5}"/>
              </a:ext>
            </a:extLst>
          </p:cNvPr>
          <p:cNvCxnSpPr>
            <a:cxnSpLocks/>
          </p:cNvCxnSpPr>
          <p:nvPr/>
        </p:nvCxnSpPr>
        <p:spPr>
          <a:xfrm>
            <a:off x="1095514" y="5115337"/>
            <a:ext cx="3207025" cy="0"/>
          </a:xfrm>
          <a:prstGeom prst="line">
            <a:avLst/>
          </a:prstGeom>
          <a:ln w="95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8110708-CE98-475A-ADD1-8B0948D487ED}"/>
              </a:ext>
            </a:extLst>
          </p:cNvPr>
          <p:cNvCxnSpPr>
            <a:cxnSpLocks/>
          </p:cNvCxnSpPr>
          <p:nvPr/>
        </p:nvCxnSpPr>
        <p:spPr>
          <a:xfrm>
            <a:off x="993913" y="6405217"/>
            <a:ext cx="3207025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9DAC26-CF39-477E-ABE9-6859162A1CA2}"/>
              </a:ext>
            </a:extLst>
          </p:cNvPr>
          <p:cNvCxnSpPr>
            <a:cxnSpLocks/>
          </p:cNvCxnSpPr>
          <p:nvPr/>
        </p:nvCxnSpPr>
        <p:spPr>
          <a:xfrm>
            <a:off x="4163691" y="3560418"/>
            <a:ext cx="3169179" cy="758940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C7C04A4-231A-427F-A59B-95EBF72B16D6}"/>
              </a:ext>
            </a:extLst>
          </p:cNvPr>
          <p:cNvCxnSpPr>
            <a:cxnSpLocks/>
          </p:cNvCxnSpPr>
          <p:nvPr/>
        </p:nvCxnSpPr>
        <p:spPr>
          <a:xfrm>
            <a:off x="4200938" y="3233531"/>
            <a:ext cx="3131932" cy="1085827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588D543-6D16-40EF-B7BD-FB259160821A}"/>
              </a:ext>
            </a:extLst>
          </p:cNvPr>
          <p:cNvCxnSpPr>
            <a:cxnSpLocks/>
          </p:cNvCxnSpPr>
          <p:nvPr/>
        </p:nvCxnSpPr>
        <p:spPr>
          <a:xfrm flipV="1">
            <a:off x="4302539" y="4319358"/>
            <a:ext cx="3030331" cy="795980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AD1B84C-4E0E-45D5-9EF9-42282955863D}"/>
              </a:ext>
            </a:extLst>
          </p:cNvPr>
          <p:cNvCxnSpPr>
            <a:cxnSpLocks/>
          </p:cNvCxnSpPr>
          <p:nvPr/>
        </p:nvCxnSpPr>
        <p:spPr>
          <a:xfrm>
            <a:off x="4178851" y="3860801"/>
            <a:ext cx="4231863" cy="458555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4F1805-4B52-4AE8-8E49-331E636AB44E}"/>
              </a:ext>
            </a:extLst>
          </p:cNvPr>
          <p:cNvCxnSpPr>
            <a:cxnSpLocks/>
          </p:cNvCxnSpPr>
          <p:nvPr/>
        </p:nvCxnSpPr>
        <p:spPr>
          <a:xfrm flipV="1">
            <a:off x="4216097" y="4319356"/>
            <a:ext cx="4194616" cy="208586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0DEFB08-EE60-4B2D-B783-D501AB0265A7}"/>
              </a:ext>
            </a:extLst>
          </p:cNvPr>
          <p:cNvSpPr txBox="1"/>
          <p:nvPr/>
        </p:nvSpPr>
        <p:spPr>
          <a:xfrm>
            <a:off x="936484" y="5634320"/>
            <a:ext cx="3207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Age &gt; 40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Dan buy computer = “no” = 2</a:t>
            </a:r>
          </a:p>
        </p:txBody>
      </p:sp>
    </p:spTree>
    <p:extLst>
      <p:ext uri="{BB962C8B-B14F-4D97-AF65-F5344CB8AC3E}">
        <p14:creationId xmlns:p14="http://schemas.microsoft.com/office/powerpoint/2010/main" val="889693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60168"/>
            <a:ext cx="4715499" cy="509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300" y="1213601"/>
            <a:ext cx="6016267" cy="503353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93400C-DCD5-47EF-87A8-B96FC366F25C}"/>
              </a:ext>
            </a:extLst>
          </p:cNvPr>
          <p:cNvSpPr txBox="1"/>
          <p:nvPr/>
        </p:nvSpPr>
        <p:spPr>
          <a:xfrm>
            <a:off x="6732104" y="2182142"/>
            <a:ext cx="5044296" cy="666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3" dirty="0"/>
              <a:t>Di </a:t>
            </a:r>
            <a:r>
              <a:rPr lang="en-US" sz="933" dirty="0" err="1"/>
              <a:t>kalkulator</a:t>
            </a:r>
            <a:r>
              <a:rPr lang="en-US" sz="933" dirty="0"/>
              <a:t> google</a:t>
            </a:r>
          </a:p>
          <a:p>
            <a:endParaRPr lang="en-US" sz="933" dirty="0"/>
          </a:p>
          <a:p>
            <a:r>
              <a:rPr lang="en-US" sz="933" dirty="0"/>
              <a:t>= 5/14 * (- 3/5 * log2(3/5) – 2/5 * log2(2/5) ) + 4/14 * (- 4/4 * log2(4/4) ) + 5/14 * ( - 3/5 * log2(3/5) – 2/5 * log2(2/5) 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20D9DC-31B3-4FF4-82D2-ADD31A1FC7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51" y="3477596"/>
            <a:ext cx="4715499" cy="33083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4CFEC8-0C36-49E7-9176-C177BDD132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825" y="69872"/>
            <a:ext cx="4475351" cy="340557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9A17D4-C89A-418E-A01C-E0FF351B4682}"/>
              </a:ext>
            </a:extLst>
          </p:cNvPr>
          <p:cNvCxnSpPr/>
          <p:nvPr/>
        </p:nvCxnSpPr>
        <p:spPr>
          <a:xfrm>
            <a:off x="4443896" y="3048001"/>
            <a:ext cx="5196429" cy="134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07A5781-BE2F-4CC1-B762-C5887D7E4117}"/>
              </a:ext>
            </a:extLst>
          </p:cNvPr>
          <p:cNvCxnSpPr>
            <a:cxnSpLocks/>
          </p:cNvCxnSpPr>
          <p:nvPr/>
        </p:nvCxnSpPr>
        <p:spPr>
          <a:xfrm flipV="1">
            <a:off x="4443896" y="4429734"/>
            <a:ext cx="5196429" cy="217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AD72AA5-07B2-4661-8F04-CBB255F210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0326" y="5388983"/>
            <a:ext cx="2367583" cy="1105291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64056D3-898B-4385-BA90-F498BAC1582E}"/>
              </a:ext>
            </a:extLst>
          </p:cNvPr>
          <p:cNvCxnSpPr>
            <a:cxnSpLocks/>
          </p:cNvCxnSpPr>
          <p:nvPr/>
        </p:nvCxnSpPr>
        <p:spPr>
          <a:xfrm flipH="1" flipV="1">
            <a:off x="8887791" y="6034156"/>
            <a:ext cx="2526748" cy="212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338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60168"/>
            <a:ext cx="4715499" cy="509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301" y="1101634"/>
            <a:ext cx="5607289" cy="509463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60168"/>
            <a:ext cx="4715499" cy="509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300" y="1560167"/>
            <a:ext cx="6442101" cy="485156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60168"/>
            <a:ext cx="4715499" cy="509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300" y="1560167"/>
            <a:ext cx="6351717" cy="47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2169767"/>
            <a:ext cx="11785600" cy="408784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  <p:sp>
        <p:nvSpPr>
          <p:cNvPr id="150" name="Google Shape;150;p25"/>
          <p:cNvSpPr/>
          <p:nvPr/>
        </p:nvSpPr>
        <p:spPr>
          <a:xfrm>
            <a:off x="7393481" y="2218133"/>
            <a:ext cx="830000" cy="7636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101" y="1560167"/>
            <a:ext cx="34671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667" y="1560167"/>
            <a:ext cx="11692669" cy="458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AF83D1-631A-4F93-9DAB-D3BAE39C8221}"/>
              </a:ext>
            </a:extLst>
          </p:cNvPr>
          <p:cNvSpPr txBox="1"/>
          <p:nvPr/>
        </p:nvSpPr>
        <p:spPr>
          <a:xfrm>
            <a:off x="6255023" y="1775791"/>
            <a:ext cx="4320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Sebagai</a:t>
            </a:r>
            <a:r>
              <a:rPr lang="en-US" sz="2400" dirty="0"/>
              <a:t> root </a:t>
            </a:r>
            <a:r>
              <a:rPr lang="en-US" sz="2400" dirty="0" err="1"/>
              <a:t>atau</a:t>
            </a:r>
            <a:r>
              <a:rPr lang="en-US" sz="2400" dirty="0"/>
              <a:t> yang paling </a:t>
            </a:r>
            <a:r>
              <a:rPr lang="en-US" sz="2400" dirty="0" err="1"/>
              <a:t>atas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667" y="1560167"/>
            <a:ext cx="11692669" cy="458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1" y="1560167"/>
            <a:ext cx="5680401" cy="3941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8401" y="1560168"/>
            <a:ext cx="5680401" cy="424253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D81F82-3F06-42EC-9AF4-AF835A35C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931" y="4709433"/>
            <a:ext cx="4090664" cy="158368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27B0AD-A2C0-4B18-8F08-9703DCC64D09}"/>
              </a:ext>
            </a:extLst>
          </p:cNvPr>
          <p:cNvCxnSpPr>
            <a:cxnSpLocks/>
          </p:cNvCxnSpPr>
          <p:nvPr/>
        </p:nvCxnSpPr>
        <p:spPr>
          <a:xfrm flipH="1">
            <a:off x="7544904" y="4214191"/>
            <a:ext cx="1855304" cy="116619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1" y="1560167"/>
            <a:ext cx="5680401" cy="39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6701" y="1604367"/>
            <a:ext cx="5825300" cy="437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1" y="1560167"/>
            <a:ext cx="5680401" cy="3941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9201" y="1944852"/>
            <a:ext cx="5689600" cy="317174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9201" y="1560167"/>
            <a:ext cx="6217479" cy="4558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601" y="1560167"/>
            <a:ext cx="5680401" cy="3941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600" y="1583534"/>
            <a:ext cx="3056829" cy="3917733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1560167"/>
            <a:ext cx="11785600" cy="3745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  <p:sp>
        <p:nvSpPr>
          <p:cNvPr id="199" name="Google Shape;199;p32"/>
          <p:cNvSpPr/>
          <p:nvPr/>
        </p:nvSpPr>
        <p:spPr>
          <a:xfrm>
            <a:off x="6469700" y="2464500"/>
            <a:ext cx="1612800" cy="42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200" name="Google Shape;200;p32"/>
          <p:cNvSpPr/>
          <p:nvPr/>
        </p:nvSpPr>
        <p:spPr>
          <a:xfrm>
            <a:off x="6610267" y="3607133"/>
            <a:ext cx="1612800" cy="42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201" name="Google Shape;201;p32"/>
          <p:cNvSpPr/>
          <p:nvPr/>
        </p:nvSpPr>
        <p:spPr>
          <a:xfrm>
            <a:off x="6187167" y="4749767"/>
            <a:ext cx="1612800" cy="42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202" name="Google Shape;202;p32"/>
          <p:cNvSpPr/>
          <p:nvPr/>
        </p:nvSpPr>
        <p:spPr>
          <a:xfrm>
            <a:off x="316267" y="2370567"/>
            <a:ext cx="9222400" cy="300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pic>
        <p:nvPicPr>
          <p:cNvPr id="203" name="Google Shape;20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200" y="2465948"/>
            <a:ext cx="12192000" cy="314530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2"/>
          <p:cNvSpPr/>
          <p:nvPr/>
        </p:nvSpPr>
        <p:spPr>
          <a:xfrm>
            <a:off x="8254397" y="3656800"/>
            <a:ext cx="830000" cy="7636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AC3E725-D89C-4640-9668-06BF70C8C354}"/>
                  </a:ext>
                </a:extLst>
              </p14:cNvPr>
              <p14:cNvContentPartPr/>
              <p14:nvPr/>
            </p14:nvContentPartPr>
            <p14:xfrm>
              <a:off x="1316439" y="4364119"/>
              <a:ext cx="1047360" cy="19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AC3E725-D89C-4640-9668-06BF70C8C35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07438" y="4355062"/>
                <a:ext cx="1065002" cy="369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78F5DE1-06D3-405F-830E-0D8C6775FF80}"/>
                  </a:ext>
                </a:extLst>
              </p14:cNvPr>
              <p14:cNvContentPartPr/>
              <p14:nvPr/>
            </p14:nvContentPartPr>
            <p14:xfrm>
              <a:off x="8339799" y="4284439"/>
              <a:ext cx="631200" cy="28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78F5DE1-06D3-405F-830E-0D8C6775FF8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30802" y="4275439"/>
                <a:ext cx="648833" cy="46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667" y="1560167"/>
            <a:ext cx="11692669" cy="458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0AF7D2B-0201-4EBC-A03F-F0076A5942D6}"/>
                  </a:ext>
                </a:extLst>
              </p14:cNvPr>
              <p14:cNvContentPartPr/>
              <p14:nvPr/>
            </p14:nvContentPartPr>
            <p14:xfrm>
              <a:off x="1111479" y="3431479"/>
              <a:ext cx="1055520" cy="2684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0AF7D2B-0201-4EBC-A03F-F0076A5942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2479" y="3422479"/>
                <a:ext cx="1073160" cy="2701800"/>
              </a:xfrm>
              <a:prstGeom prst="rect">
                <a:avLst/>
              </a:prstGeom>
            </p:spPr>
          </p:pic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A304F-D940-462F-A852-F0993064E7DF}"/>
              </a:ext>
            </a:extLst>
          </p:cNvPr>
          <p:cNvCxnSpPr/>
          <p:nvPr/>
        </p:nvCxnSpPr>
        <p:spPr>
          <a:xfrm>
            <a:off x="1601572" y="4311373"/>
            <a:ext cx="1766957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59A4F3-5C95-4657-8DA3-DC463C2ABCDA}"/>
              </a:ext>
            </a:extLst>
          </p:cNvPr>
          <p:cNvCxnSpPr/>
          <p:nvPr/>
        </p:nvCxnSpPr>
        <p:spPr>
          <a:xfrm>
            <a:off x="1601572" y="4682435"/>
            <a:ext cx="1766957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7DB9A2-0970-4D0D-A025-37D01A0A8CB2}"/>
              </a:ext>
            </a:extLst>
          </p:cNvPr>
          <p:cNvCxnSpPr/>
          <p:nvPr/>
        </p:nvCxnSpPr>
        <p:spPr>
          <a:xfrm>
            <a:off x="1601572" y="5115339"/>
            <a:ext cx="1766957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061505-E081-4F33-B3F2-63BA04775550}"/>
              </a:ext>
            </a:extLst>
          </p:cNvPr>
          <p:cNvCxnSpPr/>
          <p:nvPr/>
        </p:nvCxnSpPr>
        <p:spPr>
          <a:xfrm>
            <a:off x="1740452" y="5486400"/>
            <a:ext cx="1766957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B103FC-5FD3-4D64-9EA0-7F29A2AB0DB8}"/>
              </a:ext>
            </a:extLst>
          </p:cNvPr>
          <p:cNvCxnSpPr/>
          <p:nvPr/>
        </p:nvCxnSpPr>
        <p:spPr>
          <a:xfrm>
            <a:off x="1740452" y="5839791"/>
            <a:ext cx="1766957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1" y="1560167"/>
            <a:ext cx="11360801" cy="505375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833" y="1560167"/>
            <a:ext cx="11294328" cy="45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1" y="1560167"/>
            <a:ext cx="5680401" cy="3941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9201" y="1560167"/>
            <a:ext cx="5689600" cy="424942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How to build a DT?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968DAA-587F-4E16-A970-F78A8398D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931" y="4709433"/>
            <a:ext cx="4090664" cy="158368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436A26-23EF-40B2-A981-53E37AA8740C}"/>
              </a:ext>
            </a:extLst>
          </p:cNvPr>
          <p:cNvCxnSpPr>
            <a:cxnSpLocks/>
          </p:cNvCxnSpPr>
          <p:nvPr/>
        </p:nvCxnSpPr>
        <p:spPr>
          <a:xfrm>
            <a:off x="9559235" y="4373217"/>
            <a:ext cx="565427" cy="92461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9828CD7-2EB1-4798-80E3-2C00E11DEAEA}"/>
              </a:ext>
            </a:extLst>
          </p:cNvPr>
          <p:cNvSpPr txBox="1"/>
          <p:nvPr/>
        </p:nvSpPr>
        <p:spPr>
          <a:xfrm>
            <a:off x="371061" y="1069469"/>
            <a:ext cx="5521740" cy="54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 err="1"/>
              <a:t>Bukankah</a:t>
            </a:r>
            <a:r>
              <a:rPr lang="en-US" sz="1467" dirty="0"/>
              <a:t> student </a:t>
            </a:r>
            <a:r>
              <a:rPr lang="en-US" sz="1467" dirty="0" err="1"/>
              <a:t>tadi</a:t>
            </a:r>
            <a:r>
              <a:rPr lang="en-US" sz="1467" dirty="0"/>
              <a:t> udah di </a:t>
            </a:r>
            <a:r>
              <a:rPr lang="en-US" sz="1467" dirty="0" err="1"/>
              <a:t>pake</a:t>
            </a:r>
            <a:r>
              <a:rPr lang="en-US" sz="1467" dirty="0"/>
              <a:t> </a:t>
            </a:r>
            <a:r>
              <a:rPr lang="en-US" sz="1467" dirty="0" err="1"/>
              <a:t>buat</a:t>
            </a:r>
            <a:r>
              <a:rPr lang="en-US" sz="1467" dirty="0"/>
              <a:t> split di </a:t>
            </a:r>
            <a:r>
              <a:rPr lang="en-US" sz="1467" dirty="0" err="1"/>
              <a:t>cabang</a:t>
            </a:r>
            <a:r>
              <a:rPr lang="en-US" sz="1467" dirty="0"/>
              <a:t> </a:t>
            </a:r>
            <a:r>
              <a:rPr lang="en-US" sz="1467" dirty="0" err="1"/>
              <a:t>kiri</a:t>
            </a:r>
            <a:r>
              <a:rPr lang="en-US" sz="1467" dirty="0"/>
              <a:t>? </a:t>
            </a:r>
            <a:r>
              <a:rPr lang="en-US" sz="1467" dirty="0" err="1"/>
              <a:t>Kenapa</a:t>
            </a:r>
            <a:r>
              <a:rPr lang="en-US" sz="1467" dirty="0"/>
              <a:t> di </a:t>
            </a:r>
            <a:r>
              <a:rPr lang="en-US" sz="1467" dirty="0" err="1"/>
              <a:t>kanan</a:t>
            </a:r>
            <a:r>
              <a:rPr lang="en-US" sz="1467" dirty="0"/>
              <a:t> </a:t>
            </a:r>
            <a:r>
              <a:rPr lang="en-US" sz="1467" dirty="0" err="1"/>
              <a:t>masih</a:t>
            </a:r>
            <a:r>
              <a:rPr lang="en-US" sz="1467" dirty="0"/>
              <a:t> </a:t>
            </a:r>
            <a:r>
              <a:rPr lang="en-US" sz="1467" dirty="0" err="1"/>
              <a:t>ada</a:t>
            </a:r>
            <a:r>
              <a:rPr lang="en-US" sz="1467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70EFE-ACC4-4737-9D62-1792F97A95E6}"/>
              </a:ext>
            </a:extLst>
          </p:cNvPr>
          <p:cNvSpPr txBox="1"/>
          <p:nvPr/>
        </p:nvSpPr>
        <p:spPr>
          <a:xfrm>
            <a:off x="282713" y="5522328"/>
            <a:ext cx="5521740" cy="995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/>
              <a:t>Student </a:t>
            </a:r>
            <a:r>
              <a:rPr lang="en-US" sz="1467" dirty="0" err="1"/>
              <a:t>tetep</a:t>
            </a:r>
            <a:r>
              <a:rPr lang="en-US" sz="1467" dirty="0"/>
              <a:t> </a:t>
            </a:r>
            <a:r>
              <a:rPr lang="en-US" sz="1467" dirty="0" err="1"/>
              <a:t>kita</a:t>
            </a:r>
            <a:r>
              <a:rPr lang="en-US" sz="1467" dirty="0"/>
              <a:t> </a:t>
            </a:r>
            <a:r>
              <a:rPr lang="en-US" sz="1467" dirty="0" err="1"/>
              <a:t>hitung</a:t>
            </a:r>
            <a:r>
              <a:rPr lang="en-US" sz="1467" dirty="0"/>
              <a:t>, </a:t>
            </a:r>
            <a:r>
              <a:rPr lang="en-US" sz="1467" dirty="0" err="1"/>
              <a:t>karena</a:t>
            </a:r>
            <a:r>
              <a:rPr lang="en-US" sz="1467" dirty="0"/>
              <a:t> </a:t>
            </a:r>
            <a:r>
              <a:rPr lang="en-US" sz="1467" dirty="0" err="1"/>
              <a:t>kita</a:t>
            </a:r>
            <a:r>
              <a:rPr lang="en-US" sz="1467" dirty="0"/>
              <a:t> split </a:t>
            </a:r>
            <a:r>
              <a:rPr lang="en-US" sz="1467" dirty="0" err="1"/>
              <a:t>ada</a:t>
            </a:r>
            <a:r>
              <a:rPr lang="en-US" sz="1467" dirty="0"/>
              <a:t> </a:t>
            </a:r>
            <a:r>
              <a:rPr lang="en-US" sz="1467" dirty="0" err="1"/>
              <a:t>cabang</a:t>
            </a:r>
            <a:r>
              <a:rPr lang="en-US" sz="1467" dirty="0"/>
              <a:t> </a:t>
            </a:r>
            <a:r>
              <a:rPr lang="en-US" sz="1467" dirty="0" err="1"/>
              <a:t>kiri</a:t>
            </a:r>
            <a:r>
              <a:rPr lang="en-US" sz="1467" dirty="0"/>
              <a:t> dan </a:t>
            </a:r>
            <a:r>
              <a:rPr lang="en-US" sz="1467" dirty="0" err="1"/>
              <a:t>kanan</a:t>
            </a:r>
            <a:r>
              <a:rPr lang="en-US" sz="1467" dirty="0"/>
              <a:t> </a:t>
            </a:r>
            <a:r>
              <a:rPr lang="en-US" sz="1467" dirty="0" err="1"/>
              <a:t>berdasarkan</a:t>
            </a:r>
            <a:r>
              <a:rPr lang="en-US" sz="1467" dirty="0"/>
              <a:t> Age, </a:t>
            </a:r>
            <a:r>
              <a:rPr lang="en-US" sz="1467" dirty="0" err="1"/>
              <a:t>kalo</a:t>
            </a:r>
            <a:r>
              <a:rPr lang="en-US" sz="1467" dirty="0"/>
              <a:t> </a:t>
            </a:r>
            <a:r>
              <a:rPr lang="en-US" sz="1467" dirty="0" err="1"/>
              <a:t>dikiri</a:t>
            </a:r>
            <a:r>
              <a:rPr lang="en-US" sz="1467" dirty="0"/>
              <a:t> </a:t>
            </a:r>
            <a:r>
              <a:rPr lang="en-US" sz="1467" dirty="0" err="1"/>
              <a:t>kan</a:t>
            </a:r>
            <a:r>
              <a:rPr lang="en-US" sz="1467" dirty="0"/>
              <a:t> &lt;30 </a:t>
            </a:r>
            <a:r>
              <a:rPr lang="en-US" sz="1467" dirty="0" err="1"/>
              <a:t>sedangkan</a:t>
            </a:r>
            <a:r>
              <a:rPr lang="en-US" sz="1467" dirty="0"/>
              <a:t> yang </a:t>
            </a:r>
            <a:r>
              <a:rPr lang="en-US" sz="1467" dirty="0" err="1"/>
              <a:t>kanan</a:t>
            </a:r>
            <a:r>
              <a:rPr lang="en-US" sz="1467" dirty="0"/>
              <a:t> &gt; 40, </a:t>
            </a:r>
            <a:r>
              <a:rPr lang="en-US" sz="1467" dirty="0" err="1"/>
              <a:t>sehingga</a:t>
            </a:r>
            <a:r>
              <a:rPr lang="en-US" sz="1467" dirty="0"/>
              <a:t> </a:t>
            </a:r>
            <a:r>
              <a:rPr lang="en-US" sz="1467" dirty="0" err="1"/>
              <a:t>tetep</a:t>
            </a:r>
            <a:r>
              <a:rPr lang="en-US" sz="1467" dirty="0"/>
              <a:t> </a:t>
            </a:r>
            <a:r>
              <a:rPr lang="en-US" sz="1467" dirty="0" err="1"/>
              <a:t>kita</a:t>
            </a:r>
            <a:r>
              <a:rPr lang="en-US" sz="1467" dirty="0"/>
              <a:t> </a:t>
            </a:r>
            <a:r>
              <a:rPr lang="en-US" sz="1467" dirty="0" err="1"/>
              <a:t>hitung</a:t>
            </a:r>
            <a:r>
              <a:rPr lang="en-US" sz="1467" dirty="0"/>
              <a:t> </a:t>
            </a:r>
            <a:r>
              <a:rPr lang="en-US" sz="1467" dirty="0" err="1"/>
              <a:t>walaupun</a:t>
            </a:r>
            <a:r>
              <a:rPr lang="en-US" sz="1467" dirty="0"/>
              <a:t> di </a:t>
            </a:r>
            <a:r>
              <a:rPr lang="en-US" sz="1467" dirty="0" err="1"/>
              <a:t>cabang</a:t>
            </a:r>
            <a:r>
              <a:rPr lang="en-US" sz="1467" dirty="0"/>
              <a:t> </a:t>
            </a:r>
            <a:r>
              <a:rPr lang="en-US" sz="1467" dirty="0" err="1"/>
              <a:t>kiri</a:t>
            </a:r>
            <a:r>
              <a:rPr lang="en-US" sz="1467" dirty="0"/>
              <a:t> udah </a:t>
            </a:r>
            <a:r>
              <a:rPr lang="en-US" sz="1467" dirty="0" err="1"/>
              <a:t>kita</a:t>
            </a:r>
            <a:r>
              <a:rPr lang="en-US" sz="1467" dirty="0"/>
              <a:t> </a:t>
            </a:r>
            <a:r>
              <a:rPr lang="en-US" sz="1467" dirty="0" err="1"/>
              <a:t>gunakan</a:t>
            </a:r>
            <a:r>
              <a:rPr lang="en-US" sz="1467" dirty="0"/>
              <a:t> </a:t>
            </a:r>
            <a:r>
              <a:rPr lang="en-US" sz="1467" dirty="0" err="1"/>
              <a:t>sebagai</a:t>
            </a:r>
            <a:r>
              <a:rPr lang="en-US" sz="1467" dirty="0"/>
              <a:t> </a:t>
            </a:r>
            <a:r>
              <a:rPr lang="en-US" sz="1467" dirty="0" err="1"/>
              <a:t>cabang</a:t>
            </a:r>
            <a:r>
              <a:rPr lang="en-US" sz="1467" dirty="0"/>
              <a:t> split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1" y="1560167"/>
            <a:ext cx="5680401" cy="39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9200" y="1560167"/>
            <a:ext cx="5892800" cy="420803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1" y="1560167"/>
            <a:ext cx="5680401" cy="3941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9200" y="1560168"/>
            <a:ext cx="5892800" cy="423151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83534"/>
            <a:ext cx="3056829" cy="391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9200" y="1560167"/>
            <a:ext cx="5892800" cy="4317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601" y="1560167"/>
            <a:ext cx="5680401" cy="3941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83534"/>
            <a:ext cx="3056829" cy="391773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1560167"/>
            <a:ext cx="11785600" cy="428155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  <p:sp>
        <p:nvSpPr>
          <p:cNvPr id="259" name="Google Shape;259;p40"/>
          <p:cNvSpPr/>
          <p:nvPr/>
        </p:nvSpPr>
        <p:spPr>
          <a:xfrm>
            <a:off x="363267" y="2840267"/>
            <a:ext cx="8846400" cy="300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pic>
        <p:nvPicPr>
          <p:cNvPr id="260" name="Google Shape;26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201" y="2493000"/>
            <a:ext cx="11558401" cy="3145333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0"/>
          <p:cNvSpPr/>
          <p:nvPr/>
        </p:nvSpPr>
        <p:spPr>
          <a:xfrm>
            <a:off x="7455864" y="4874733"/>
            <a:ext cx="830000" cy="7636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019C523-F7BB-4FC4-830D-307B6E34A9F1}"/>
                  </a:ext>
                </a:extLst>
              </p14:cNvPr>
              <p14:cNvContentPartPr/>
              <p14:nvPr/>
            </p14:nvContentPartPr>
            <p14:xfrm>
              <a:off x="1112919" y="6166519"/>
              <a:ext cx="480" cy="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019C523-F7BB-4FC4-830D-307B6E34A9F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8919" y="6142519"/>
                <a:ext cx="48000" cy="4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F081A72-E55C-4F66-9659-A3FCAB5FA67E}"/>
                  </a:ext>
                </a:extLst>
              </p14:cNvPr>
              <p14:cNvContentPartPr/>
              <p14:nvPr/>
            </p14:nvContentPartPr>
            <p14:xfrm>
              <a:off x="1157559" y="5477239"/>
              <a:ext cx="843840" cy="107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F081A72-E55C-4F66-9659-A3FCAB5FA67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39559" y="5459219"/>
                <a:ext cx="879480" cy="1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B566EC8-CD99-4788-907E-E176DE7A37FD}"/>
                  </a:ext>
                </a:extLst>
              </p14:cNvPr>
              <p14:cNvContentPartPr/>
              <p14:nvPr/>
            </p14:nvContentPartPr>
            <p14:xfrm>
              <a:off x="7535799" y="5660599"/>
              <a:ext cx="902400" cy="82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B566EC8-CD99-4788-907E-E176DE7A37F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17794" y="5642573"/>
                <a:ext cx="938049" cy="11825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833" y="1560167"/>
            <a:ext cx="11294328" cy="45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C0B342C-8A18-4CDF-A012-675DF9087542}"/>
                  </a:ext>
                </a:extLst>
              </p14:cNvPr>
              <p14:cNvContentPartPr/>
              <p14:nvPr/>
            </p14:nvContentPartPr>
            <p14:xfrm>
              <a:off x="9920439" y="3532279"/>
              <a:ext cx="1239360" cy="2892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C0B342C-8A18-4CDF-A012-675DF90875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02436" y="3514279"/>
                <a:ext cx="1275007" cy="2928600"/>
              </a:xfrm>
              <a:prstGeom prst="rect">
                <a:avLst/>
              </a:prstGeom>
            </p:spPr>
          </p:pic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450687-9646-4A1E-B7FA-74CA15A758FA}"/>
              </a:ext>
            </a:extLst>
          </p:cNvPr>
          <p:cNvCxnSpPr/>
          <p:nvPr/>
        </p:nvCxnSpPr>
        <p:spPr>
          <a:xfrm>
            <a:off x="10522227" y="4435061"/>
            <a:ext cx="637572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8A2ACB-F09F-49B7-83EE-B7235CDC7D45}"/>
              </a:ext>
            </a:extLst>
          </p:cNvPr>
          <p:cNvCxnSpPr/>
          <p:nvPr/>
        </p:nvCxnSpPr>
        <p:spPr>
          <a:xfrm>
            <a:off x="10522227" y="4797287"/>
            <a:ext cx="637572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919A67-0F7F-4274-B37C-2C47819C54CC}"/>
              </a:ext>
            </a:extLst>
          </p:cNvPr>
          <p:cNvCxnSpPr/>
          <p:nvPr/>
        </p:nvCxnSpPr>
        <p:spPr>
          <a:xfrm>
            <a:off x="10522227" y="5574748"/>
            <a:ext cx="637572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417" y="1560168"/>
            <a:ext cx="10843168" cy="500143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967" y="1560167"/>
            <a:ext cx="11198069" cy="45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build a DT?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classify data in DT?</a:t>
            </a:r>
            <a:endParaRPr/>
          </a:p>
        </p:txBody>
      </p:sp>
      <p:pic>
        <p:nvPicPr>
          <p:cNvPr id="285" name="Google Shape;28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1560168"/>
            <a:ext cx="5892799" cy="3371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9200" y="1560167"/>
            <a:ext cx="5689601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" y="5873083"/>
            <a:ext cx="12191999" cy="775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5873083"/>
            <a:ext cx="12191999" cy="775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201" y="1560167"/>
            <a:ext cx="5892799" cy="3371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9200" y="1560167"/>
            <a:ext cx="5689601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classify data in DT?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5873083"/>
            <a:ext cx="12191999" cy="775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201" y="1560168"/>
            <a:ext cx="5892799" cy="3371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9200" y="1560167"/>
            <a:ext cx="5689601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classify data in DT?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5873083"/>
            <a:ext cx="12191999" cy="775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201" y="1560168"/>
            <a:ext cx="5892799" cy="3371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9200" y="1560167"/>
            <a:ext cx="5689601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classify data in DT?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5873083"/>
            <a:ext cx="12191999" cy="775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201" y="1560168"/>
            <a:ext cx="5892799" cy="3371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9200" y="1560168"/>
            <a:ext cx="5689601" cy="4347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How to classify data in DT?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Hyperparameter in Decision Tree</a:t>
            </a:r>
            <a:endParaRPr/>
          </a:p>
        </p:txBody>
      </p:sp>
      <p:sp>
        <p:nvSpPr>
          <p:cNvPr id="325" name="Google Shape;325;p4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Font typeface="Courier New"/>
              <a:buChar char="●"/>
            </a:pPr>
            <a:r>
              <a:rPr lang="en" b="1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max_depth, default=None</a:t>
            </a:r>
            <a:endParaRPr b="1">
              <a:solidFill>
                <a:schemeClr val="accen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1" indent="-440256">
              <a:lnSpc>
                <a:spcPct val="150000"/>
              </a:lnSpc>
              <a:buClr>
                <a:schemeClr val="dk1"/>
              </a:buClr>
              <a:buSzPts val="1600"/>
            </a:pPr>
            <a:r>
              <a:rPr lang="en" sz="2133">
                <a:solidFill>
                  <a:schemeClr val="dk1"/>
                </a:solidFill>
              </a:rPr>
              <a:t>To avoid overfitting (tree pruning).</a:t>
            </a:r>
            <a:endParaRPr sz="2133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Font typeface="Courier New"/>
              <a:buChar char="●"/>
            </a:pPr>
            <a:r>
              <a:rPr lang="en" b="1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criterion</a:t>
            </a:r>
            <a:r>
              <a:rPr lang="en">
                <a:solidFill>
                  <a:schemeClr val="dk1"/>
                </a:solidFill>
              </a:rPr>
              <a:t> to measure the quality of split</a:t>
            </a:r>
            <a:endParaRPr>
              <a:solidFill>
                <a:schemeClr val="dk1"/>
              </a:solidFill>
            </a:endParaRPr>
          </a:p>
          <a:p>
            <a:pPr lvl="1" indent="-440256">
              <a:lnSpc>
                <a:spcPct val="150000"/>
              </a:lnSpc>
              <a:buClr>
                <a:schemeClr val="dk1"/>
              </a:buClr>
              <a:buSzPts val="1600"/>
            </a:pPr>
            <a:r>
              <a:rPr lang="en" sz="2133">
                <a:solidFill>
                  <a:schemeClr val="dk1"/>
                </a:solidFill>
              </a:rPr>
              <a:t>Classification : </a:t>
            </a:r>
            <a:r>
              <a:rPr lang="en" sz="2133" b="1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default=”gini”</a:t>
            </a:r>
            <a:endParaRPr sz="2133" b="1">
              <a:solidFill>
                <a:schemeClr val="accen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1" indent="-440256">
              <a:lnSpc>
                <a:spcPct val="150000"/>
              </a:lnSpc>
              <a:buClr>
                <a:schemeClr val="dk1"/>
              </a:buClr>
              <a:buSzPts val="1600"/>
            </a:pPr>
            <a:r>
              <a:rPr lang="en" sz="2133">
                <a:solidFill>
                  <a:schemeClr val="dk1"/>
                </a:solidFill>
              </a:rPr>
              <a:t>Regression    : </a:t>
            </a:r>
            <a:r>
              <a:rPr lang="en" sz="2133" b="1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default=”squared_error”</a:t>
            </a:r>
            <a:endParaRPr sz="2133" b="1">
              <a:solidFill>
                <a:schemeClr val="accen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922</Words>
  <Application>Microsoft Office PowerPoint</Application>
  <PresentationFormat>Widescreen</PresentationFormat>
  <Paragraphs>126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Calibri Light</vt:lpstr>
      <vt:lpstr>Candara</vt:lpstr>
      <vt:lpstr>Courier New</vt:lpstr>
      <vt:lpstr>Times New Roman</vt:lpstr>
      <vt:lpstr>Office Theme</vt:lpstr>
      <vt:lpstr>What is Decision Tree?</vt:lpstr>
      <vt:lpstr>What is Decision Tree?</vt:lpstr>
      <vt:lpstr>Introducing Information Gain!</vt:lpstr>
      <vt:lpstr>Introducing Information Gain!</vt:lpstr>
      <vt:lpstr>Introducing Information Gain!</vt:lpstr>
      <vt:lpstr>Introducing Information Gain!</vt:lpstr>
      <vt:lpstr>How to Calculate Info Gain?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build a DT?</vt:lpstr>
      <vt:lpstr>How to classify data in DT?</vt:lpstr>
      <vt:lpstr>How to classify data in DT?</vt:lpstr>
      <vt:lpstr>How to classify data in DT?</vt:lpstr>
      <vt:lpstr>How to classify data in DT?</vt:lpstr>
      <vt:lpstr>How to classify data in DT?</vt:lpstr>
      <vt:lpstr>Hyperparameter in Decision Tree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3</dc:title>
  <dc:creator>Agung Wahyu Prayogo</dc:creator>
  <cp:lastModifiedBy>Agung Wahyu Prayogo</cp:lastModifiedBy>
  <cp:revision>2</cp:revision>
  <dcterms:created xsi:type="dcterms:W3CDTF">2025-11-03T07:32:08Z</dcterms:created>
  <dcterms:modified xsi:type="dcterms:W3CDTF">2025-11-03T07:35:11Z</dcterms:modified>
</cp:coreProperties>
</file>