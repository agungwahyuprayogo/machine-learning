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8"/>
  </p:notesMasterIdLst>
  <p:sldIdLst>
    <p:sldId id="295" r:id="rId2"/>
    <p:sldId id="303" r:id="rId3"/>
    <p:sldId id="304" r:id="rId4"/>
    <p:sldId id="305" r:id="rId5"/>
    <p:sldId id="306" r:id="rId6"/>
    <p:sldId id="307" r:id="rId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60"/>
  </p:normalViewPr>
  <p:slideViewPr>
    <p:cSldViewPr snapToGrid="0">
      <p:cViewPr varScale="1">
        <p:scale>
          <a:sx n="91" d="100"/>
          <a:sy n="91" d="100"/>
        </p:scale>
        <p:origin x="322" y="7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EF0A767-CF55-4ED6-A370-0B175F07F4FD}" type="datetimeFigureOut">
              <a:rPr lang="en-US" smtClean="0"/>
              <a:t>03-Nov-25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D48021E-1E33-4290-B803-4A432015846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1780041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0" name="Google Shape;340;g39b28c02865_0_25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41" name="Google Shape;341;g39b28c02865_0_25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8" name="Google Shape;398;g39b28c02865_0_30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99" name="Google Shape;399;g39b28c02865_0_30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4" name="Google Shape;404;g39b28c02865_0_30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05" name="Google Shape;405;g39b28c02865_0_30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1"/>
              <a:t>1 split</a:t>
            </a:r>
            <a:r>
              <a:rPr lang="en"/>
              <a:t> = 1 model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1"/>
              <a:t>CV Score: </a:t>
            </a:r>
            <a:r>
              <a:rPr lang="en"/>
              <a:t>average performa/error dari seluruh split.</a:t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1" name="Google Shape;411;g39b28c02865_0_3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12" name="Google Shape;412;g39b28c02865_0_31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8" name="Google Shape;418;g39b28c02865_0_3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19" name="Google Shape;419;g39b28c02865_0_31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1"/>
              <a:t>Tips: </a:t>
            </a:r>
            <a:r>
              <a:rPr lang="en"/>
              <a:t>Use random search first to identify promising regions, then apply grid search within those more focused ranges.</a:t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4" name="Google Shape;424;g39b28c02865_0_32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25" name="Google Shape;425;g39b28c02865_0_32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AD32FA-3794-4567-8EEA-B66E67A2F6B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421E24F-1A1F-48C4-A455-60A188BEDC5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B087B0E-6345-4C64-9DD1-BA932B771C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9795FC-B066-41E0-9E77-B5691572D4BA}" type="datetimeFigureOut">
              <a:rPr lang="en-US" smtClean="0"/>
              <a:t>03-Nov-25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7AE1BD9-F702-4144-AD89-6896A6A10B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F363571-5331-439B-89EE-F0BCFABD6F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A2ECE7-7AF4-4317-ABFE-52DF6A42BB6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4261008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3FF320-F313-4D33-8281-8ED506F692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5437091-2FD6-4BF9-8E8D-9383EF394F9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D541E7B-369E-47C2-9E64-BC9BC78DC3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9795FC-B066-41E0-9E77-B5691572D4BA}" type="datetimeFigureOut">
              <a:rPr lang="en-US" smtClean="0"/>
              <a:t>03-Nov-25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6F23A94-3999-458F-BBD0-119124338E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E05D79E-0353-46B0-A13D-2E553CC603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A2ECE7-7AF4-4317-ABFE-52DF6A42BB6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4186238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5DE50B-73A5-4608-8EDD-092219C9AC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F377F40-5C03-4B99-8507-01CFBE41251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B1551AD-1FF7-42F9-8C94-69F9344AB0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9795FC-B066-41E0-9E77-B5691572D4BA}" type="datetimeFigureOut">
              <a:rPr lang="en-US" smtClean="0"/>
              <a:t>03-Nov-25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D75B0F9-A020-40A1-A8D5-104C75DCDA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515BC77-126A-41BD-967A-E427166E03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A2ECE7-7AF4-4317-ABFE-52DF6A42BB6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7056147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109635-B549-499C-8571-703E331AC4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BD658DD-B9CD-4DD5-88BD-57E6A8459BD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E100C91-4E8D-4852-B88F-7C572073196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3B1B0F5-9FB5-4F1D-BB54-F6F64ED203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9795FC-B066-41E0-9E77-B5691572D4BA}" type="datetimeFigureOut">
              <a:rPr lang="en-US" smtClean="0"/>
              <a:t>03-Nov-25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1182093-761E-4114-857B-614097D8C3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E85106F-E47C-4FFF-A7E9-597396F85E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A2ECE7-7AF4-4317-ABFE-52DF6A42BB6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0702588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221327-FCDA-4B3C-A124-15F56CD7B69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AE0D8E2-D5BC-4F5E-A92B-C3ECF059AA2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2057754-CA23-429B-BFCA-6045ADB028E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56396AD-034A-4139-B0A4-29CEC161492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C364AC1-6CCE-4078-8CA3-4E888DBABB1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D465ABA-FED7-4292-A94A-CB3763D585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9795FC-B066-41E0-9E77-B5691572D4BA}" type="datetimeFigureOut">
              <a:rPr lang="en-US" smtClean="0"/>
              <a:t>03-Nov-25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775608A-96CF-40F3-BAD9-345C339D74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10281A7-9F5F-4B85-89C8-BA75511139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A2ECE7-7AF4-4317-ABFE-52DF6A42BB6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8668331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EC519F-6AA0-4637-9D65-1C1A405C18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EFFA5DC-8DFB-402E-9F64-2025DA223DD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9795FC-B066-41E0-9E77-B5691572D4BA}" type="datetimeFigureOut">
              <a:rPr lang="en-US" smtClean="0"/>
              <a:t>03-Nov-25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CE27310-3800-44E8-B69A-A0FE61208A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2FE8E01-F2A2-4E70-8E41-4EE7685467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A2ECE7-7AF4-4317-ABFE-52DF6A42BB6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444473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970CFED-FE9A-4AA5-AC2E-660E65318D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9795FC-B066-41E0-9E77-B5691572D4BA}" type="datetimeFigureOut">
              <a:rPr lang="en-US" smtClean="0"/>
              <a:t>03-Nov-25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6D7EB0C-05E9-4479-92B8-34CA7A41FD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D978E02-94DD-42A9-A208-9B7E6DD2F0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A2ECE7-7AF4-4317-ABFE-52DF6A42BB6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4588675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DADF77-9F0A-4486-A09D-2F9EC67DB5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98DFFED-36BE-4B21-8317-9D47D0D3459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6EEB211-F2D5-444D-8990-01662D6062C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ABEBF3E-6D97-4835-AA02-2C86C4A71D8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9795FC-B066-41E0-9E77-B5691572D4BA}" type="datetimeFigureOut">
              <a:rPr lang="en-US" smtClean="0"/>
              <a:t>03-Nov-25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BEED0E9-A22D-4019-B397-8F0C7282CD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FB4BC1A-C045-4EC7-A215-E0C3E435D9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A2ECE7-7AF4-4317-ABFE-52DF6A42BB6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2788843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72DB68-CF24-4F48-8808-C5597C70AA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C0EBA44-4CAA-4439-BC16-6A6575A2DE1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91C6D97-57ED-4F89-80D2-12115EE48D2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FD11DE7-DF31-4FB2-9D37-FB79C4AA20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9795FC-B066-41E0-9E77-B5691572D4BA}" type="datetimeFigureOut">
              <a:rPr lang="en-US" smtClean="0"/>
              <a:t>03-Nov-25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4AB177D-0C20-4DEE-9D17-76AA35DEAE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9B522C7-E2B6-476A-BC6E-448F644375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A2ECE7-7AF4-4317-ABFE-52DF6A42BB6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7766713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549CC2-8980-4BCB-B491-CF334CFCCD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E2B956E-7964-4F5E-8106-1F6353EC9BC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7190386-21E3-4BDE-9207-E3D241CDE3D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9795FC-B066-41E0-9E77-B5691572D4BA}" type="datetimeFigureOut">
              <a:rPr lang="en-US" smtClean="0"/>
              <a:t>03-Nov-25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901552F-A186-4A84-90B9-5017FA6E5E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9C6BE1A-9B5C-4337-ADCD-302A134D60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A2ECE7-7AF4-4317-ABFE-52DF6A42BB6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75604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E4CF4C3E-2E0D-4A3E-9AD2-03BB9A0242A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833B8C0-D86C-4BB7-8EAC-72423E6ECE2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DC1BEA1-DECE-4AC8-A2AD-333500E2F1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9795FC-B066-41E0-9E77-B5691572D4BA}" type="datetimeFigureOut">
              <a:rPr lang="en-US" smtClean="0"/>
              <a:t>03-Nov-25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B4124D1-F8AE-40E4-8293-E11482DFA4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3C8DCD1-F3C3-4D5E-9A86-39F0048C03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A2ECE7-7AF4-4317-ABFE-52DF6A42BB6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9729309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 and body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>
            <a:spLocks noGrp="1"/>
          </p:cNvSpPr>
          <p:nvPr>
            <p:ph type="title"/>
          </p:nvPr>
        </p:nvSpPr>
        <p:spPr>
          <a:xfrm>
            <a:off x="415600" y="593367"/>
            <a:ext cx="11360800" cy="76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4"/>
          <p:cNvSpPr txBox="1">
            <a:spLocks noGrp="1"/>
          </p:cNvSpPr>
          <p:nvPr>
            <p:ph type="body" idx="1"/>
          </p:nvPr>
        </p:nvSpPr>
        <p:spPr>
          <a:xfrm>
            <a:off x="415600" y="1536633"/>
            <a:ext cx="11360800" cy="455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609585" lvl="0" indent="-457189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1219170" lvl="1" indent="-423323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828754" lvl="2" indent="-423323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2438339" lvl="3" indent="-423323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3047924" lvl="4" indent="-423323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3657509" lvl="5" indent="-423323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4267093" lvl="6" indent="-423323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4876678" lvl="7" indent="-423323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5486263" lvl="8" indent="-423323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9" name="Google Shape;19;p4"/>
          <p:cNvSpPr txBox="1">
            <a:spLocks noGrp="1"/>
          </p:cNvSpPr>
          <p:nvPr>
            <p:ph type="sldNum" idx="12"/>
          </p:nvPr>
        </p:nvSpPr>
        <p:spPr>
          <a:xfrm>
            <a:off x="11296611" y="6217623"/>
            <a:ext cx="731600" cy="52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fld id="{00000000-1234-1234-1234-123412341234}" type="slidenum">
              <a:rPr lang="en" smtClean="0"/>
              <a:pPr/>
              <a:t>‹#›</a:t>
            </a:fld>
            <a:endParaRPr lang="en"/>
          </a:p>
        </p:txBody>
      </p:sp>
    </p:spTree>
    <p:extLst>
      <p:ext uri="{BB962C8B-B14F-4D97-AF65-F5344CB8AC3E}">
        <p14:creationId xmlns:p14="http://schemas.microsoft.com/office/powerpoint/2010/main" val="266578795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6350487-E347-43EB-B77D-D95CF6F3725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017CF63-15DC-49F4-8855-5443FECBB22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FA2506E-61D6-49CD-ADF5-FD5C41FEC17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99795FC-B066-41E0-9E77-B5691572D4BA}" type="datetimeFigureOut">
              <a:rPr lang="en-US" smtClean="0"/>
              <a:t>03-Nov-25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C658C1D-8F33-40B4-913C-1E84DA03DE5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9182B32-A67E-49C9-8E19-977972FC4D2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0A2ECE7-7AF4-4317-ABFE-52DF6A42BB6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7927652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hyperlink" Target="https://scikit-learn.org/stable/modules/generated/sklearn.model_selection.GridSearchCV.html#sklearn.model_selection.GridSearchCV" TargetMode="Externa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2.png"/><Relationship Id="rId4" Type="http://schemas.openxmlformats.org/officeDocument/2006/relationships/hyperlink" Target="https://scikit-learn.org/stable/modules/generated/sklearn.model_selection.RandomizedSearchCV.html#sklearn.model_selection.RandomizedSearchCV" TargetMode="Externa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hyperlink" Target="https://scikit-learn.org/stable/modules/generated/sklearn.model_selection.GridSearchCV.html#sklearn.model_selection.GridSearchCV" TargetMode="Externa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2.xml"/><Relationship Id="rId4" Type="http://schemas.openxmlformats.org/officeDocument/2006/relationships/hyperlink" Target="https://scikit-learn.org/stable/modules/generated/sklearn.model_selection.RandomizedSearchCV.html#sklearn.model_selection.RandomizedSearchCV" TargetMode="Externa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3" name="Google Shape;343;p52"/>
          <p:cNvSpPr txBox="1">
            <a:spLocks noGrp="1"/>
          </p:cNvSpPr>
          <p:nvPr>
            <p:ph type="ctrTitle"/>
          </p:nvPr>
        </p:nvSpPr>
        <p:spPr>
          <a:xfrm>
            <a:off x="415611" y="992767"/>
            <a:ext cx="11360800" cy="2736800"/>
          </a:xfrm>
          <a:prstGeom prst="rect">
            <a:avLst/>
          </a:prstGeom>
        </p:spPr>
        <p:txBody>
          <a:bodyPr spcFirstLastPara="1" vert="horz" wrap="square" lIns="121900" tIns="121900" rIns="121900" bIns="121900" rtlCol="0" anchor="b" anchorCtr="0">
            <a:normAutofit/>
          </a:bodyPr>
          <a:lstStyle/>
          <a:p>
            <a:pPr>
              <a:spcBef>
                <a:spcPts val="0"/>
              </a:spcBef>
            </a:pPr>
            <a:r>
              <a:rPr lang="en"/>
              <a:t>Evaluation Metrics</a:t>
            </a:r>
            <a:endParaRPr/>
          </a:p>
        </p:txBody>
      </p:sp>
      <p:sp>
        <p:nvSpPr>
          <p:cNvPr id="344" name="Google Shape;344;p52"/>
          <p:cNvSpPr txBox="1">
            <a:spLocks noGrp="1"/>
          </p:cNvSpPr>
          <p:nvPr>
            <p:ph type="subTitle" idx="1"/>
          </p:nvPr>
        </p:nvSpPr>
        <p:spPr>
          <a:xfrm>
            <a:off x="415600" y="3778833"/>
            <a:ext cx="11360800" cy="1056800"/>
          </a:xfrm>
          <a:prstGeom prst="rect">
            <a:avLst/>
          </a:prstGeom>
        </p:spPr>
        <p:txBody>
          <a:bodyPr spcFirstLastPara="1" vert="horz" wrap="square" lIns="121900" tIns="121900" rIns="121900" bIns="121900" rtlCol="0" anchor="t" anchorCtr="0">
            <a:normAutofit/>
          </a:bodyPr>
          <a:lstStyle/>
          <a:p>
            <a:pPr>
              <a:spcBef>
                <a:spcPts val="0"/>
              </a:spcBef>
            </a:pPr>
            <a:r>
              <a:rPr lang="en"/>
              <a:t>Confusion Matrix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1" name="Google Shape;401;p60"/>
          <p:cNvSpPr txBox="1">
            <a:spLocks noGrp="1"/>
          </p:cNvSpPr>
          <p:nvPr>
            <p:ph type="title"/>
          </p:nvPr>
        </p:nvSpPr>
        <p:spPr>
          <a:xfrm>
            <a:off x="415600" y="593367"/>
            <a:ext cx="11360800" cy="763600"/>
          </a:xfrm>
          <a:prstGeom prst="rect">
            <a:avLst/>
          </a:prstGeom>
        </p:spPr>
        <p:txBody>
          <a:bodyPr spcFirstLastPara="1" vert="horz" wrap="square" lIns="121900" tIns="121900" rIns="121900" bIns="121900" rtlCol="0" anchor="t" anchorCtr="0">
            <a:normAutofit fontScale="90000"/>
          </a:bodyPr>
          <a:lstStyle/>
          <a:p>
            <a:r>
              <a:rPr lang="en"/>
              <a:t>Resampling Methods</a:t>
            </a:r>
            <a:endParaRPr/>
          </a:p>
        </p:txBody>
      </p:sp>
      <p:sp>
        <p:nvSpPr>
          <p:cNvPr id="402" name="Google Shape;402;p60"/>
          <p:cNvSpPr txBox="1">
            <a:spLocks noGrp="1"/>
          </p:cNvSpPr>
          <p:nvPr>
            <p:ph type="body" idx="1"/>
          </p:nvPr>
        </p:nvSpPr>
        <p:spPr>
          <a:xfrm>
            <a:off x="415600" y="1536633"/>
            <a:ext cx="11360800" cy="5061600"/>
          </a:xfrm>
          <a:prstGeom prst="rect">
            <a:avLst/>
          </a:prstGeom>
        </p:spPr>
        <p:txBody>
          <a:bodyPr spcFirstLastPara="1" vert="horz" wrap="square" lIns="121900" tIns="121900" rIns="121900" bIns="121900" rtlCol="0" anchor="t" anchorCtr="0">
            <a:normAutofit/>
          </a:bodyPr>
          <a:lstStyle/>
          <a:p>
            <a:pPr indent="-482588">
              <a:lnSpc>
                <a:spcPct val="100000"/>
              </a:lnSpc>
              <a:buClr>
                <a:schemeClr val="dk1"/>
              </a:buClr>
              <a:buSzPts val="2100"/>
            </a:pPr>
            <a:r>
              <a:rPr lang="en">
                <a:solidFill>
                  <a:schemeClr val="dk1"/>
                </a:solidFill>
              </a:rPr>
              <a:t>Validation Set Approach</a:t>
            </a:r>
            <a:endParaRPr>
              <a:solidFill>
                <a:schemeClr val="dk1"/>
              </a:solidFill>
            </a:endParaRPr>
          </a:p>
          <a:p>
            <a:pPr lvl="1" indent="-457189">
              <a:lnSpc>
                <a:spcPct val="100000"/>
              </a:lnSpc>
              <a:spcBef>
                <a:spcPts val="1333"/>
              </a:spcBef>
              <a:buClr>
                <a:schemeClr val="dk1"/>
              </a:buClr>
              <a:buSzPts val="1800"/>
            </a:pPr>
            <a:r>
              <a:rPr lang="en">
                <a:solidFill>
                  <a:schemeClr val="dk1"/>
                </a:solidFill>
              </a:rPr>
              <a:t>Sekian persen data menjadi data validation (80%, </a:t>
            </a:r>
            <a:r>
              <a:rPr lang="en" b="1">
                <a:solidFill>
                  <a:schemeClr val="dk1"/>
                </a:solidFill>
              </a:rPr>
              <a:t>10%</a:t>
            </a:r>
            <a:r>
              <a:rPr lang="en">
                <a:solidFill>
                  <a:schemeClr val="dk1"/>
                </a:solidFill>
              </a:rPr>
              <a:t>, 10%)</a:t>
            </a:r>
            <a:endParaRPr>
              <a:solidFill>
                <a:schemeClr val="dk1"/>
              </a:solidFill>
            </a:endParaRPr>
          </a:p>
          <a:p>
            <a:pPr lvl="1" indent="-457189">
              <a:lnSpc>
                <a:spcPct val="100000"/>
              </a:lnSpc>
              <a:spcBef>
                <a:spcPts val="1333"/>
              </a:spcBef>
              <a:buClr>
                <a:schemeClr val="dk1"/>
              </a:buClr>
              <a:buSzPts val="1800"/>
            </a:pPr>
            <a:r>
              <a:rPr lang="en" b="1">
                <a:solidFill>
                  <a:schemeClr val="dk1"/>
                </a:solidFill>
              </a:rPr>
              <a:t>Kekurangan:</a:t>
            </a:r>
            <a:r>
              <a:rPr lang="en">
                <a:solidFill>
                  <a:schemeClr val="dk1"/>
                </a:solidFill>
              </a:rPr>
              <a:t> Jumlah data train berkurang.</a:t>
            </a:r>
            <a:endParaRPr>
              <a:solidFill>
                <a:schemeClr val="dk1"/>
              </a:solidFill>
            </a:endParaRPr>
          </a:p>
          <a:p>
            <a:pPr indent="-482588">
              <a:lnSpc>
                <a:spcPct val="100000"/>
              </a:lnSpc>
              <a:spcBef>
                <a:spcPts val="1333"/>
              </a:spcBef>
              <a:buClr>
                <a:schemeClr val="dk1"/>
              </a:buClr>
              <a:buSzPts val="2100"/>
            </a:pPr>
            <a:r>
              <a:rPr lang="en" b="1">
                <a:solidFill>
                  <a:schemeClr val="dk1"/>
                </a:solidFill>
              </a:rPr>
              <a:t>K-Fold Cross Validation Approach</a:t>
            </a:r>
            <a:endParaRPr>
              <a:solidFill>
                <a:schemeClr val="dk1"/>
              </a:solidFill>
            </a:endParaRPr>
          </a:p>
          <a:p>
            <a:pPr lvl="1" indent="-457189">
              <a:lnSpc>
                <a:spcPct val="100000"/>
              </a:lnSpc>
              <a:spcBef>
                <a:spcPts val="1333"/>
              </a:spcBef>
              <a:buClr>
                <a:schemeClr val="dk1"/>
              </a:buClr>
              <a:buSzPts val="1800"/>
            </a:pPr>
            <a:r>
              <a:rPr lang="en">
                <a:solidFill>
                  <a:schemeClr val="dk1"/>
                </a:solidFill>
              </a:rPr>
              <a:t>Data train dibagi menjadi beberapa </a:t>
            </a:r>
            <a:r>
              <a:rPr lang="en" b="1">
                <a:solidFill>
                  <a:schemeClr val="dk1"/>
                </a:solidFill>
              </a:rPr>
              <a:t>fold</a:t>
            </a:r>
            <a:r>
              <a:rPr lang="en">
                <a:solidFill>
                  <a:schemeClr val="dk1"/>
                </a:solidFill>
              </a:rPr>
              <a:t>, setiap fold berpeluang menjadi train &amp; valid.</a:t>
            </a:r>
            <a:endParaRPr>
              <a:solidFill>
                <a:schemeClr val="dk1"/>
              </a:solidFill>
            </a:endParaRPr>
          </a:p>
          <a:p>
            <a:pPr indent="-482588">
              <a:lnSpc>
                <a:spcPct val="100000"/>
              </a:lnSpc>
              <a:spcBef>
                <a:spcPts val="1333"/>
              </a:spcBef>
              <a:buClr>
                <a:schemeClr val="dk1"/>
              </a:buClr>
              <a:buSzPts val="2100"/>
            </a:pPr>
            <a:r>
              <a:rPr lang="en">
                <a:solidFill>
                  <a:schemeClr val="dk1"/>
                </a:solidFill>
              </a:rPr>
              <a:t>Bootstrap Approach</a:t>
            </a:r>
            <a:endParaRPr>
              <a:solidFill>
                <a:schemeClr val="dk1"/>
              </a:solidFill>
            </a:endParaRPr>
          </a:p>
          <a:p>
            <a:pPr lvl="1" indent="-457189">
              <a:lnSpc>
                <a:spcPct val="100000"/>
              </a:lnSpc>
              <a:spcBef>
                <a:spcPts val="1333"/>
              </a:spcBef>
              <a:buClr>
                <a:schemeClr val="dk1"/>
              </a:buClr>
              <a:buSzPts val="1800"/>
            </a:pPr>
            <a:r>
              <a:rPr lang="en">
                <a:solidFill>
                  <a:schemeClr val="dk1"/>
                </a:solidFill>
              </a:rPr>
              <a:t>Random sampling with replacement dari data train (sampel).</a:t>
            </a:r>
            <a:endParaRPr>
              <a:solidFill>
                <a:schemeClr val="dk1"/>
              </a:solidFill>
            </a:endParaRPr>
          </a:p>
          <a:p>
            <a:pPr lvl="1" indent="-457189">
              <a:lnSpc>
                <a:spcPct val="100000"/>
              </a:lnSpc>
              <a:spcBef>
                <a:spcPts val="1333"/>
              </a:spcBef>
              <a:spcAft>
                <a:spcPts val="1333"/>
              </a:spcAft>
              <a:buClr>
                <a:schemeClr val="dk1"/>
              </a:buClr>
              <a:buSzPts val="1800"/>
            </a:pPr>
            <a:r>
              <a:rPr lang="en">
                <a:solidFill>
                  <a:schemeClr val="dk1"/>
                </a:solidFill>
              </a:rPr>
              <a:t>Error terdistribusi normal (penting pada LinearRegression).</a:t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7" name="Google Shape;407;p61"/>
          <p:cNvSpPr txBox="1">
            <a:spLocks noGrp="1"/>
          </p:cNvSpPr>
          <p:nvPr>
            <p:ph type="title"/>
          </p:nvPr>
        </p:nvSpPr>
        <p:spPr>
          <a:xfrm>
            <a:off x="415600" y="593367"/>
            <a:ext cx="11360800" cy="763600"/>
          </a:xfrm>
          <a:prstGeom prst="rect">
            <a:avLst/>
          </a:prstGeom>
        </p:spPr>
        <p:txBody>
          <a:bodyPr spcFirstLastPara="1" vert="horz" wrap="square" lIns="121900" tIns="121900" rIns="121900" bIns="121900" rtlCol="0" anchor="t" anchorCtr="0">
            <a:normAutofit fontScale="90000"/>
          </a:bodyPr>
          <a:lstStyle/>
          <a:p>
            <a:r>
              <a:rPr lang="en"/>
              <a:t>k-Fold Cross Validation</a:t>
            </a:r>
            <a:endParaRPr/>
          </a:p>
        </p:txBody>
      </p:sp>
      <p:sp>
        <p:nvSpPr>
          <p:cNvPr id="408" name="Google Shape;408;p61"/>
          <p:cNvSpPr txBox="1">
            <a:spLocks noGrp="1"/>
          </p:cNvSpPr>
          <p:nvPr>
            <p:ph type="body" idx="1"/>
          </p:nvPr>
        </p:nvSpPr>
        <p:spPr>
          <a:xfrm>
            <a:off x="415600" y="5865900"/>
            <a:ext cx="11360800" cy="763600"/>
          </a:xfrm>
          <a:prstGeom prst="rect">
            <a:avLst/>
          </a:prstGeom>
        </p:spPr>
        <p:txBody>
          <a:bodyPr spcFirstLastPara="1" vert="horz" wrap="square" lIns="121900" tIns="121900" rIns="121900" bIns="121900" rtlCol="0" anchor="t" anchorCtr="0">
            <a:normAutofit fontScale="92500" lnSpcReduction="20000"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en">
                <a:solidFill>
                  <a:schemeClr val="dk1"/>
                </a:solidFill>
              </a:rPr>
              <a:t>Model terbaik → CV score terbaik</a:t>
            </a:r>
            <a:endParaRPr>
              <a:solidFill>
                <a:schemeClr val="dk1"/>
              </a:solidFill>
            </a:endParaRPr>
          </a:p>
        </p:txBody>
      </p:sp>
      <p:pic>
        <p:nvPicPr>
          <p:cNvPr id="409" name="Google Shape;409;p6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841187" y="1513543"/>
            <a:ext cx="6509629" cy="450893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4" name="Google Shape;414;p62"/>
          <p:cNvSpPr txBox="1">
            <a:spLocks noGrp="1"/>
          </p:cNvSpPr>
          <p:nvPr>
            <p:ph type="title"/>
          </p:nvPr>
        </p:nvSpPr>
        <p:spPr>
          <a:xfrm>
            <a:off x="415600" y="593367"/>
            <a:ext cx="11360800" cy="763600"/>
          </a:xfrm>
          <a:prstGeom prst="rect">
            <a:avLst/>
          </a:prstGeom>
        </p:spPr>
        <p:txBody>
          <a:bodyPr spcFirstLastPara="1" vert="horz" wrap="square" lIns="121900" tIns="121900" rIns="121900" bIns="121900" rtlCol="0" anchor="t" anchorCtr="0">
            <a:normAutofit fontScale="90000"/>
          </a:bodyPr>
          <a:lstStyle/>
          <a:p>
            <a:r>
              <a:rPr lang="en"/>
              <a:t>Cross Validation + Hyperparameter Tuning</a:t>
            </a:r>
            <a:endParaRPr/>
          </a:p>
        </p:txBody>
      </p:sp>
      <p:sp>
        <p:nvSpPr>
          <p:cNvPr id="415" name="Google Shape;415;p62"/>
          <p:cNvSpPr txBox="1">
            <a:spLocks noGrp="1"/>
          </p:cNvSpPr>
          <p:nvPr>
            <p:ph type="body" idx="1"/>
          </p:nvPr>
        </p:nvSpPr>
        <p:spPr>
          <a:xfrm>
            <a:off x="415600" y="1536633"/>
            <a:ext cx="11360800" cy="4555200"/>
          </a:xfrm>
          <a:prstGeom prst="rect">
            <a:avLst/>
          </a:prstGeom>
        </p:spPr>
        <p:txBody>
          <a:bodyPr spcFirstLastPara="1" vert="horz" wrap="square" lIns="121900" tIns="121900" rIns="121900" bIns="121900" rtlCol="0" anchor="t" anchorCtr="0">
            <a:normAutofit/>
          </a:bodyPr>
          <a:lstStyle/>
          <a:p>
            <a:pPr marL="1219170" indent="609585">
              <a:lnSpc>
                <a:spcPct val="150000"/>
              </a:lnSpc>
              <a:buNone/>
            </a:pPr>
            <a:r>
              <a:rPr lang="en" u="sng">
                <a:solidFill>
                  <a:schemeClr val="hlink"/>
                </a:solidFill>
                <a:hlinkClick r:id="rId3"/>
              </a:rPr>
              <a:t>GridSearchCV</a:t>
            </a:r>
            <a:r>
              <a:rPr lang="en">
                <a:solidFill>
                  <a:schemeClr val="dk1"/>
                </a:solidFill>
              </a:rPr>
              <a:t> 				</a:t>
            </a:r>
            <a:r>
              <a:rPr lang="en" u="sng">
                <a:solidFill>
                  <a:schemeClr val="hlink"/>
                </a:solidFill>
                <a:hlinkClick r:id="rId4"/>
              </a:rPr>
              <a:t>RandomizedSearchCV</a:t>
            </a:r>
            <a:endParaRPr>
              <a:solidFill>
                <a:schemeClr val="dk1"/>
              </a:solidFill>
            </a:endParaRPr>
          </a:p>
        </p:txBody>
      </p:sp>
      <p:pic>
        <p:nvPicPr>
          <p:cNvPr id="416" name="Google Shape;416;p62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950531" y="2295265"/>
            <a:ext cx="8290935" cy="419503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1" name="Google Shape;421;p63"/>
          <p:cNvSpPr txBox="1">
            <a:spLocks noGrp="1"/>
          </p:cNvSpPr>
          <p:nvPr>
            <p:ph type="title"/>
          </p:nvPr>
        </p:nvSpPr>
        <p:spPr>
          <a:xfrm>
            <a:off x="415600" y="593367"/>
            <a:ext cx="11360800" cy="763600"/>
          </a:xfrm>
          <a:prstGeom prst="rect">
            <a:avLst/>
          </a:prstGeom>
        </p:spPr>
        <p:txBody>
          <a:bodyPr spcFirstLastPara="1" vert="horz" wrap="square" lIns="121900" tIns="121900" rIns="121900" bIns="121900" rtlCol="0" anchor="t" anchorCtr="0">
            <a:normAutofit fontScale="90000"/>
          </a:bodyPr>
          <a:lstStyle/>
          <a:p>
            <a:r>
              <a:rPr lang="en"/>
              <a:t>Cross Validation + Hyperparameter Tuning</a:t>
            </a:r>
            <a:endParaRPr/>
          </a:p>
        </p:txBody>
      </p:sp>
      <p:sp>
        <p:nvSpPr>
          <p:cNvPr id="422" name="Google Shape;422;p63"/>
          <p:cNvSpPr txBox="1">
            <a:spLocks noGrp="1"/>
          </p:cNvSpPr>
          <p:nvPr>
            <p:ph type="body" idx="1"/>
          </p:nvPr>
        </p:nvSpPr>
        <p:spPr>
          <a:xfrm>
            <a:off x="415600" y="1536633"/>
            <a:ext cx="11360800" cy="4555200"/>
          </a:xfrm>
          <a:prstGeom prst="rect">
            <a:avLst/>
          </a:prstGeom>
        </p:spPr>
        <p:txBody>
          <a:bodyPr spcFirstLastPara="1" vert="horz" wrap="square" lIns="121900" tIns="121900" rIns="121900" bIns="121900" rtlCol="0" anchor="t" anchorCtr="0">
            <a:normAutofit fontScale="85000" lnSpcReduction="10000"/>
          </a:bodyPr>
          <a:lstStyle/>
          <a:p>
            <a:pPr>
              <a:lnSpc>
                <a:spcPct val="150000"/>
              </a:lnSpc>
              <a:buClr>
                <a:schemeClr val="dk1"/>
              </a:buClr>
            </a:pPr>
            <a:r>
              <a:rPr lang="en" u="sng">
                <a:solidFill>
                  <a:schemeClr val="hlink"/>
                </a:solidFill>
                <a:hlinkClick r:id="rId3"/>
              </a:rPr>
              <a:t>GridSearchCV</a:t>
            </a:r>
            <a:endParaRPr>
              <a:solidFill>
                <a:schemeClr val="dk1"/>
              </a:solidFill>
            </a:endParaRPr>
          </a:p>
          <a:p>
            <a:pPr lvl="1">
              <a:lnSpc>
                <a:spcPct val="150000"/>
              </a:lnSpc>
              <a:buClr>
                <a:schemeClr val="dk1"/>
              </a:buClr>
            </a:pPr>
            <a:r>
              <a:rPr lang="en">
                <a:solidFill>
                  <a:schemeClr val="dk1"/>
                </a:solidFill>
              </a:rPr>
              <a:t>Evaluates every possible combinations of hyperparameter values &amp; get the best combination.</a:t>
            </a:r>
            <a:endParaRPr>
              <a:solidFill>
                <a:schemeClr val="dk1"/>
              </a:solidFill>
            </a:endParaRPr>
          </a:p>
          <a:p>
            <a:pPr lvl="1">
              <a:lnSpc>
                <a:spcPct val="150000"/>
              </a:lnSpc>
              <a:buClr>
                <a:schemeClr val="dk1"/>
              </a:buClr>
            </a:pPr>
            <a:r>
              <a:rPr lang="en">
                <a:solidFill>
                  <a:schemeClr val="dk1"/>
                </a:solidFill>
              </a:rPr>
              <a:t>Good for relatively few combinations.</a:t>
            </a:r>
            <a:endParaRPr>
              <a:solidFill>
                <a:schemeClr val="dk1"/>
              </a:solidFill>
            </a:endParaRPr>
          </a:p>
          <a:p>
            <a:pPr lvl="1">
              <a:lnSpc>
                <a:spcPct val="150000"/>
              </a:lnSpc>
              <a:buClr>
                <a:schemeClr val="dk1"/>
              </a:buClr>
            </a:pPr>
            <a:r>
              <a:rPr lang="en">
                <a:solidFill>
                  <a:schemeClr val="dk1"/>
                </a:solidFill>
              </a:rPr>
              <a:t>Guarantees finding the best combination.</a:t>
            </a:r>
            <a:endParaRPr>
              <a:solidFill>
                <a:schemeClr val="dk1"/>
              </a:solidFill>
            </a:endParaRPr>
          </a:p>
          <a:p>
            <a:pPr>
              <a:lnSpc>
                <a:spcPct val="150000"/>
              </a:lnSpc>
              <a:buClr>
                <a:schemeClr val="dk1"/>
              </a:buClr>
            </a:pPr>
            <a:r>
              <a:rPr lang="en" u="sng">
                <a:solidFill>
                  <a:schemeClr val="hlink"/>
                </a:solidFill>
                <a:hlinkClick r:id="rId4"/>
              </a:rPr>
              <a:t>RandomizedSearchCV</a:t>
            </a:r>
            <a:endParaRPr>
              <a:solidFill>
                <a:schemeClr val="dk1"/>
              </a:solidFill>
            </a:endParaRPr>
          </a:p>
          <a:p>
            <a:pPr lvl="1">
              <a:lnSpc>
                <a:spcPct val="150000"/>
              </a:lnSpc>
              <a:buClr>
                <a:schemeClr val="dk1"/>
              </a:buClr>
            </a:pPr>
            <a:r>
              <a:rPr lang="en">
                <a:solidFill>
                  <a:schemeClr val="dk1"/>
                </a:solidFill>
              </a:rPr>
              <a:t>Evaluates a fixed number of combinations, selecting a random value for each hyperparameter at every iteration.</a:t>
            </a:r>
            <a:endParaRPr>
              <a:solidFill>
                <a:schemeClr val="dk1"/>
              </a:solidFill>
            </a:endParaRPr>
          </a:p>
          <a:p>
            <a:pPr lvl="1">
              <a:lnSpc>
                <a:spcPct val="150000"/>
              </a:lnSpc>
              <a:buClr>
                <a:schemeClr val="dk1"/>
              </a:buClr>
            </a:pPr>
            <a:r>
              <a:rPr lang="en">
                <a:solidFill>
                  <a:schemeClr val="dk1"/>
                </a:solidFill>
              </a:rPr>
              <a:t>Does not guarantee finding the best combination, but generally more efficient in large spaces.</a:t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7" name="Google Shape;427;p64"/>
          <p:cNvSpPr txBox="1">
            <a:spLocks noGrp="1"/>
          </p:cNvSpPr>
          <p:nvPr>
            <p:ph type="title"/>
          </p:nvPr>
        </p:nvSpPr>
        <p:spPr>
          <a:xfrm>
            <a:off x="415600" y="593367"/>
            <a:ext cx="11360800" cy="763600"/>
          </a:xfrm>
          <a:prstGeom prst="rect">
            <a:avLst/>
          </a:prstGeom>
        </p:spPr>
        <p:txBody>
          <a:bodyPr spcFirstLastPara="1" vert="horz" wrap="square" lIns="121900" tIns="121900" rIns="121900" bIns="121900" rtlCol="0" anchor="t" anchorCtr="0">
            <a:normAutofit fontScale="90000"/>
          </a:bodyPr>
          <a:lstStyle/>
          <a:p>
            <a:r>
              <a:rPr lang="en"/>
              <a:t>Poin Penting</a:t>
            </a:r>
            <a:endParaRPr/>
          </a:p>
        </p:txBody>
      </p:sp>
      <p:sp>
        <p:nvSpPr>
          <p:cNvPr id="428" name="Google Shape;428;p64"/>
          <p:cNvSpPr txBox="1">
            <a:spLocks noGrp="1"/>
          </p:cNvSpPr>
          <p:nvPr>
            <p:ph type="body" idx="1"/>
          </p:nvPr>
        </p:nvSpPr>
        <p:spPr>
          <a:xfrm>
            <a:off x="415600" y="1536633"/>
            <a:ext cx="11360800" cy="4555200"/>
          </a:xfrm>
          <a:prstGeom prst="rect">
            <a:avLst/>
          </a:prstGeom>
        </p:spPr>
        <p:txBody>
          <a:bodyPr spcFirstLastPara="1" vert="horz" wrap="square" lIns="121900" tIns="121900" rIns="121900" bIns="121900" rtlCol="0" anchor="t" anchorCtr="0">
            <a:normAutofit/>
          </a:bodyPr>
          <a:lstStyle/>
          <a:p>
            <a:pPr>
              <a:lnSpc>
                <a:spcPct val="150000"/>
              </a:lnSpc>
              <a:buClr>
                <a:schemeClr val="dk1"/>
              </a:buClr>
            </a:pPr>
            <a:r>
              <a:rPr lang="en">
                <a:solidFill>
                  <a:schemeClr val="dk1"/>
                </a:solidFill>
              </a:rPr>
              <a:t>Pahami </a:t>
            </a:r>
            <a:r>
              <a:rPr lang="en" b="1">
                <a:solidFill>
                  <a:schemeClr val="accent1"/>
                </a:solidFill>
              </a:rPr>
              <a:t>cara membangun Decision Tree</a:t>
            </a:r>
            <a:r>
              <a:rPr lang="en">
                <a:solidFill>
                  <a:schemeClr val="dk1"/>
                </a:solidFill>
              </a:rPr>
              <a:t> dan </a:t>
            </a:r>
            <a:r>
              <a:rPr lang="en" b="1">
                <a:solidFill>
                  <a:schemeClr val="accent1"/>
                </a:solidFill>
              </a:rPr>
              <a:t>cara prediksinya</a:t>
            </a:r>
            <a:r>
              <a:rPr lang="en">
                <a:solidFill>
                  <a:schemeClr val="dk1"/>
                </a:solidFill>
              </a:rPr>
              <a:t> pada kasus klasifikasi dan regresi.</a:t>
            </a:r>
            <a:endParaRPr>
              <a:solidFill>
                <a:schemeClr val="dk1"/>
              </a:solidFill>
            </a:endParaRPr>
          </a:p>
          <a:p>
            <a:pPr>
              <a:lnSpc>
                <a:spcPct val="150000"/>
              </a:lnSpc>
              <a:buClr>
                <a:schemeClr val="dk1"/>
              </a:buClr>
            </a:pPr>
            <a:r>
              <a:rPr lang="en">
                <a:solidFill>
                  <a:schemeClr val="dk1"/>
                </a:solidFill>
              </a:rPr>
              <a:t>Pahami cara </a:t>
            </a:r>
            <a:r>
              <a:rPr lang="en" b="1">
                <a:solidFill>
                  <a:schemeClr val="accent1"/>
                </a:solidFill>
              </a:rPr>
              <a:t>evaluasi model regresi</a:t>
            </a:r>
            <a:r>
              <a:rPr lang="en">
                <a:solidFill>
                  <a:schemeClr val="dk1"/>
                </a:solidFill>
              </a:rPr>
              <a:t> dan </a:t>
            </a:r>
            <a:r>
              <a:rPr lang="en" b="1">
                <a:solidFill>
                  <a:schemeClr val="accent1"/>
                </a:solidFill>
              </a:rPr>
              <a:t>klasifikasi</a:t>
            </a:r>
            <a:r>
              <a:rPr lang="en">
                <a:solidFill>
                  <a:schemeClr val="dk1"/>
                </a:solidFill>
              </a:rPr>
              <a:t>, serta intuisi berbagai metriknya.</a:t>
            </a:r>
            <a:endParaRPr>
              <a:solidFill>
                <a:schemeClr val="dk1"/>
              </a:solidFill>
            </a:endParaRPr>
          </a:p>
          <a:p>
            <a:pPr>
              <a:lnSpc>
                <a:spcPct val="150000"/>
              </a:lnSpc>
              <a:buClr>
                <a:schemeClr val="dk1"/>
              </a:buClr>
            </a:pPr>
            <a:r>
              <a:rPr lang="en">
                <a:solidFill>
                  <a:schemeClr val="dk1"/>
                </a:solidFill>
              </a:rPr>
              <a:t>Pahami konsep </a:t>
            </a:r>
            <a:r>
              <a:rPr lang="en" b="1">
                <a:solidFill>
                  <a:schemeClr val="accent1"/>
                </a:solidFill>
              </a:rPr>
              <a:t>Confusion Matrix</a:t>
            </a:r>
            <a:r>
              <a:rPr lang="en">
                <a:solidFill>
                  <a:schemeClr val="dk1"/>
                </a:solidFill>
              </a:rPr>
              <a:t> saat mengevaluasi model klasifikasi.</a:t>
            </a:r>
            <a:endParaRPr>
              <a:solidFill>
                <a:schemeClr val="dk1"/>
              </a:solidFill>
            </a:endParaRPr>
          </a:p>
          <a:p>
            <a:pPr>
              <a:lnSpc>
                <a:spcPct val="150000"/>
              </a:lnSpc>
              <a:buClr>
                <a:schemeClr val="dk1"/>
              </a:buClr>
            </a:pPr>
            <a:r>
              <a:rPr lang="en">
                <a:solidFill>
                  <a:schemeClr val="dk1"/>
                </a:solidFill>
              </a:rPr>
              <a:t>Pahami konsep </a:t>
            </a:r>
            <a:r>
              <a:rPr lang="en" b="1">
                <a:solidFill>
                  <a:schemeClr val="accent1"/>
                </a:solidFill>
              </a:rPr>
              <a:t>Cross Validation</a:t>
            </a:r>
            <a:r>
              <a:rPr lang="en">
                <a:solidFill>
                  <a:schemeClr val="dk1"/>
                </a:solidFill>
              </a:rPr>
              <a:t> untuk </a:t>
            </a:r>
            <a:r>
              <a:rPr lang="en" i="1">
                <a:solidFill>
                  <a:schemeClr val="dk1"/>
                </a:solidFill>
              </a:rPr>
              <a:t>tuning</a:t>
            </a:r>
            <a:r>
              <a:rPr lang="en">
                <a:solidFill>
                  <a:schemeClr val="dk1"/>
                </a:solidFill>
              </a:rPr>
              <a:t> model.</a:t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</TotalTime>
  <Words>237</Words>
  <Application>Microsoft Office PowerPoint</Application>
  <PresentationFormat>Widescreen</PresentationFormat>
  <Paragraphs>31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0" baseType="lpstr">
      <vt:lpstr>Arial</vt:lpstr>
      <vt:lpstr>Calibri</vt:lpstr>
      <vt:lpstr>Calibri Light</vt:lpstr>
      <vt:lpstr>Office Theme</vt:lpstr>
      <vt:lpstr>Evaluation Metrics</vt:lpstr>
      <vt:lpstr>Resampling Methods</vt:lpstr>
      <vt:lpstr>k-Fold Cross Validation</vt:lpstr>
      <vt:lpstr>Cross Validation + Hyperparameter Tuning</vt:lpstr>
      <vt:lpstr>Cross Validation + Hyperparameter Tuning</vt:lpstr>
      <vt:lpstr>Poin Penting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Evaluation Metrics</dc:title>
  <dc:creator>Agung Wahyu Prayogo</dc:creator>
  <cp:lastModifiedBy>Agung Wahyu Prayogo</cp:lastModifiedBy>
  <cp:revision>1</cp:revision>
  <dcterms:created xsi:type="dcterms:W3CDTF">2025-11-03T07:30:41Z</dcterms:created>
  <dcterms:modified xsi:type="dcterms:W3CDTF">2025-11-03T07:35:37Z</dcterms:modified>
</cp:coreProperties>
</file>